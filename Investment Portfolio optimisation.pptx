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60" r:id="rId3"/>
    <p:sldId id="261" r:id="rId4"/>
    <p:sldId id="267" r:id="rId5"/>
    <p:sldId id="268" r:id="rId6"/>
    <p:sldId id="283" r:id="rId7"/>
    <p:sldId id="257" r:id="rId8"/>
    <p:sldId id="274" r:id="rId9"/>
    <p:sldId id="259" r:id="rId10"/>
    <p:sldId id="270" r:id="rId11"/>
    <p:sldId id="271" r:id="rId12"/>
    <p:sldId id="273" r:id="rId13"/>
    <p:sldId id="272" r:id="rId14"/>
    <p:sldId id="275" r:id="rId15"/>
    <p:sldId id="276" r:id="rId16"/>
    <p:sldId id="277" r:id="rId17"/>
    <p:sldId id="284" r:id="rId18"/>
    <p:sldId id="278" r:id="rId19"/>
    <p:sldId id="282" r:id="rId20"/>
    <p:sldId id="279" r:id="rId21"/>
    <p:sldId id="280" r:id="rId22"/>
    <p:sldId id="281" r:id="rId23"/>
    <p:sldId id="286"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3"/>
  </p:normalViewPr>
  <p:slideViewPr>
    <p:cSldViewPr snapToGrid="0">
      <p:cViewPr varScale="1">
        <p:scale>
          <a:sx n="105" d="100"/>
          <a:sy n="105" d="100"/>
        </p:scale>
        <p:origin x="7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Users/gokul/Desktop/CAPSTONE%20PROJECT/BASKAR_GOKUL_S223638072_MIS775.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baseline="0">
                <a:solidFill>
                  <a:schemeClr val="tx1">
                    <a:lumMod val="65000"/>
                    <a:lumOff val="35000"/>
                  </a:schemeClr>
                </a:solidFill>
                <a:latin typeface="+mn-lt"/>
                <a:ea typeface="+mn-ea"/>
                <a:cs typeface="+mn-cs"/>
              </a:defRPr>
            </a:pPr>
            <a:r>
              <a:rPr lang="en-US" dirty="0"/>
              <a:t>Risk</a:t>
            </a:r>
            <a:r>
              <a:rPr lang="en-US" baseline="0" dirty="0"/>
              <a:t> Classification</a:t>
            </a:r>
            <a:endParaRPr lang="en-US" dirty="0"/>
          </a:p>
        </c:rich>
      </c:tx>
      <c:overlay val="0"/>
      <c:spPr>
        <a:noFill/>
        <a:ln>
          <a:noFill/>
        </a:ln>
        <a:effectLst/>
      </c:spPr>
      <c:txPr>
        <a:bodyPr rot="0" spcFirstLastPara="1" vertOverflow="ellipsis" vert="horz" wrap="square" anchor="ctr" anchorCtr="1"/>
        <a:lstStyle/>
        <a:p>
          <a:pPr>
            <a:defRPr sz="1400" b="0" i="0" u="none" strike="noStrike"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'1.b Sample  (Return and Risk)'!$T$31</c:f>
              <c:strCache>
                <c:ptCount val="1"/>
                <c:pt idx="0">
                  <c:v>(ASX:PME)</c:v>
                </c:pt>
              </c:strCache>
            </c:strRef>
          </c:tx>
          <c:spPr>
            <a:solidFill>
              <a:schemeClr val="accent1"/>
            </a:solidFill>
            <a:ln w="19050">
              <a:solidFill>
                <a:schemeClr val="tx1">
                  <a:alpha val="16155"/>
                </a:schemeClr>
              </a:solidFill>
            </a:ln>
            <a:effectLst/>
          </c:spPr>
          <c:invertIfNegative val="0"/>
          <c:dPt>
            <c:idx val="0"/>
            <c:invertIfNegative val="0"/>
            <c:bubble3D val="0"/>
            <c:spPr>
              <a:solidFill>
                <a:srgbClr val="FF0000"/>
              </a:solidFill>
              <a:ln w="19050">
                <a:solidFill>
                  <a:schemeClr val="tx1">
                    <a:alpha val="16155"/>
                  </a:schemeClr>
                </a:solidFill>
              </a:ln>
              <a:effectLst/>
            </c:spPr>
            <c:extLst>
              <c:ext xmlns:c16="http://schemas.microsoft.com/office/drawing/2014/chart" uri="{C3380CC4-5D6E-409C-BE32-E72D297353CC}">
                <c16:uniqueId val="{00000001-E805-8644-AF51-AA053C28D423}"/>
              </c:ext>
            </c:extLst>
          </c:dPt>
          <c:dLbls>
            <c:dLbl>
              <c:idx val="0"/>
              <c:layout>
                <c:manualLayout>
                  <c:x val="4.1440652452351808E-3"/>
                  <c:y val="0.14342737172627532"/>
                </c:manualLayout>
              </c:layout>
              <c:tx>
                <c:rich>
                  <a:bodyPr rot="0" spcFirstLastPara="1" vertOverflow="ellipsis" vert="horz" wrap="square" lIns="38100" tIns="19050" rIns="38100" bIns="19050" anchor="ctr" anchorCtr="1">
                    <a:noAutofit/>
                  </a:bodyPr>
                  <a:lstStyle/>
                  <a:p>
                    <a:pPr>
                      <a:defRPr sz="900" b="0" i="0" u="none" strike="noStrike" baseline="0">
                        <a:solidFill>
                          <a:schemeClr val="tx1">
                            <a:lumMod val="65000"/>
                            <a:lumOff val="35000"/>
                          </a:schemeClr>
                        </a:solidFill>
                        <a:latin typeface="+mn-lt"/>
                        <a:ea typeface="+mn-ea"/>
                        <a:cs typeface="+mn-cs"/>
                      </a:defRPr>
                    </a:pPr>
                    <a:r>
                      <a:rPr lang="en-US" b="1"/>
                      <a:t>S11</a:t>
                    </a:r>
                  </a:p>
                </c:rich>
              </c:tx>
              <c:spPr>
                <a:noFill/>
                <a:ln>
                  <a:noFill/>
                </a:ln>
                <a:effectLst/>
              </c:spPr>
              <c:txPr>
                <a:bodyPr rot="0" spcFirstLastPara="1" vertOverflow="ellipsis" vert="horz" wrap="square" lIns="38100" tIns="19050" rIns="38100" bIns="19050" anchor="ctr" anchorCtr="1">
                  <a:no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6.1814126258196538E-2"/>
                      <c:h val="7.987277231205589E-2"/>
                    </c:manualLayout>
                  </c15:layout>
                  <c15:showDataLabelsRange val="0"/>
                </c:ext>
                <c:ext xmlns:c16="http://schemas.microsoft.com/office/drawing/2014/chart" uri="{C3380CC4-5D6E-409C-BE32-E72D297353CC}">
                  <c16:uniqueId val="{00000001-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ash"/>
              </a:ln>
              <a:effectLst/>
            </c:spPr>
            <c:trendlineType val="linear"/>
            <c:dispRSqr val="0"/>
            <c:dispEq val="0"/>
          </c:trendline>
          <c:cat>
            <c:strRef>
              <c:f>'1.b Sample  (Return and Risk)'!$U$30</c:f>
              <c:strCache>
                <c:ptCount val="1"/>
                <c:pt idx="0">
                  <c:v>Stock</c:v>
                </c:pt>
              </c:strCache>
            </c:strRef>
          </c:cat>
          <c:val>
            <c:numRef>
              <c:f>'1.b Sample  (Return and Risk)'!$U$31</c:f>
              <c:numCache>
                <c:formatCode>0.00%</c:formatCode>
                <c:ptCount val="1"/>
                <c:pt idx="0">
                  <c:v>0.10936385592244387</c:v>
                </c:pt>
              </c:numCache>
            </c:numRef>
          </c:val>
          <c:extLst>
            <c:ext xmlns:c16="http://schemas.microsoft.com/office/drawing/2014/chart" uri="{C3380CC4-5D6E-409C-BE32-E72D297353CC}">
              <c16:uniqueId val="{00000003-E805-8644-AF51-AA053C28D423}"/>
            </c:ext>
          </c:extLst>
        </c:ser>
        <c:ser>
          <c:idx val="1"/>
          <c:order val="1"/>
          <c:tx>
            <c:strRef>
              <c:f>'1.b Sample  (Return and Risk)'!$T$32</c:f>
              <c:strCache>
                <c:ptCount val="1"/>
                <c:pt idx="0">
                  <c:v>(ASX:PGC)</c:v>
                </c:pt>
              </c:strCache>
            </c:strRef>
          </c:tx>
          <c:spPr>
            <a:solidFill>
              <a:srgbClr val="FF0000"/>
            </a:solidFill>
            <a:ln w="19050">
              <a:solidFill>
                <a:schemeClr val="tx1">
                  <a:lumMod val="85000"/>
                  <a:lumOff val="15000"/>
                  <a:alpha val="25000"/>
                </a:schemeClr>
              </a:solidFill>
            </a:ln>
            <a:effectLst/>
          </c:spPr>
          <c:invertIfNegative val="0"/>
          <c:dLbls>
            <c:dLbl>
              <c:idx val="0"/>
              <c:layout>
                <c:manualLayout>
                  <c:x val="-2.7626376533155133E-3"/>
                  <c:y val="0.16458878722687334"/>
                </c:manualLayout>
              </c:layout>
              <c:tx>
                <c:rich>
                  <a:bodyPr/>
                  <a:lstStyle/>
                  <a:p>
                    <a:r>
                      <a:rPr lang="en-US"/>
                      <a:t>S12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'1.b Sample  (Return and Risk)'!$U$30</c:f>
              <c:strCache>
                <c:ptCount val="1"/>
                <c:pt idx="0">
                  <c:v>Stock</c:v>
                </c:pt>
              </c:strCache>
            </c:strRef>
          </c:cat>
          <c:val>
            <c:numRef>
              <c:f>'1.b Sample  (Return and Risk)'!$U$32</c:f>
              <c:numCache>
                <c:formatCode>0.00%</c:formatCode>
                <c:ptCount val="1"/>
                <c:pt idx="0">
                  <c:v>0.13553167397727031</c:v>
                </c:pt>
              </c:numCache>
            </c:numRef>
          </c:val>
          <c:extLst>
            <c:ext xmlns:c16="http://schemas.microsoft.com/office/drawing/2014/chart" uri="{C3380CC4-5D6E-409C-BE32-E72D297353CC}">
              <c16:uniqueId val="{00000005-E805-8644-AF51-AA053C28D423}"/>
            </c:ext>
          </c:extLst>
        </c:ser>
        <c:ser>
          <c:idx val="2"/>
          <c:order val="2"/>
          <c:tx>
            <c:strRef>
              <c:f>'1.b Sample  (Return and Risk)'!$T$33</c:f>
              <c:strCache>
                <c:ptCount val="1"/>
                <c:pt idx="0">
                  <c:v>(ASX:XRO)</c:v>
                </c:pt>
              </c:strCache>
            </c:strRef>
          </c:tx>
          <c:spPr>
            <a:solidFill>
              <a:srgbClr val="FFC000"/>
            </a:solidFill>
            <a:ln w="12700">
              <a:solidFill>
                <a:schemeClr val="tx1">
                  <a:lumMod val="85000"/>
                  <a:lumOff val="15000"/>
                </a:schemeClr>
              </a:solidFill>
            </a:ln>
            <a:effectLst/>
          </c:spPr>
          <c:invertIfNegative val="0"/>
          <c:dLbls>
            <c:dLbl>
              <c:idx val="0"/>
              <c:layout>
                <c:manualLayout>
                  <c:x val="-5.5252753066310266E-3"/>
                  <c:y val="0.12696849300358792"/>
                </c:manualLayout>
              </c:layout>
              <c:tx>
                <c:rich>
                  <a:bodyPr/>
                  <a:lstStyle/>
                  <a:p>
                    <a:r>
                      <a:rPr lang="en-US"/>
                      <a:t>S21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'1.b Sample  (Return and Risk)'!$U$30</c:f>
              <c:strCache>
                <c:ptCount val="1"/>
                <c:pt idx="0">
                  <c:v>Stock</c:v>
                </c:pt>
              </c:strCache>
            </c:strRef>
          </c:cat>
          <c:val>
            <c:numRef>
              <c:f>'1.b Sample  (Return and Risk)'!$U$33</c:f>
              <c:numCache>
                <c:formatCode>0.00%</c:formatCode>
                <c:ptCount val="1"/>
                <c:pt idx="0">
                  <c:v>9.4151228850625754E-2</c:v>
                </c:pt>
              </c:numCache>
            </c:numRef>
          </c:val>
          <c:extLst>
            <c:ext xmlns:c16="http://schemas.microsoft.com/office/drawing/2014/chart" uri="{C3380CC4-5D6E-409C-BE32-E72D297353CC}">
              <c16:uniqueId val="{00000007-E805-8644-AF51-AA053C28D423}"/>
            </c:ext>
          </c:extLst>
        </c:ser>
        <c:ser>
          <c:idx val="3"/>
          <c:order val="3"/>
          <c:tx>
            <c:strRef>
              <c:f>'1.b Sample  (Return and Risk)'!$T$34</c:f>
              <c:strCache>
                <c:ptCount val="1"/>
                <c:pt idx="0">
                  <c:v>(ASX:COS)</c:v>
                </c:pt>
              </c:strCache>
            </c:strRef>
          </c:tx>
          <c:spPr>
            <a:solidFill>
              <a:schemeClr val="accent4"/>
            </a:solidFill>
            <a:ln w="12700">
              <a:solidFill>
                <a:srgbClr val="FFC000"/>
              </a:solidFill>
            </a:ln>
            <a:effectLst/>
          </c:spPr>
          <c:invertIfNegative val="0"/>
          <c:dPt>
            <c:idx val="0"/>
            <c:invertIfNegative val="0"/>
            <c:bubble3D val="0"/>
            <c:spPr>
              <a:solidFill>
                <a:srgbClr val="FFC000"/>
              </a:solidFill>
              <a:ln w="12700">
                <a:solidFill>
                  <a:srgbClr val="FFC000"/>
                </a:solidFill>
              </a:ln>
              <a:effectLst/>
            </c:spPr>
            <c:extLst>
              <c:ext xmlns:c16="http://schemas.microsoft.com/office/drawing/2014/chart" uri="{C3380CC4-5D6E-409C-BE32-E72D297353CC}">
                <c16:uniqueId val="{00000008-E805-8644-AF51-AA053C28D423}"/>
              </c:ext>
            </c:extLst>
          </c:dPt>
          <c:dLbls>
            <c:dLbl>
              <c:idx val="0"/>
              <c:layout>
                <c:manualLayout>
                  <c:x val="2.7626376533155133E-3"/>
                  <c:y val="0.10345580911403467"/>
                </c:manualLayout>
              </c:layout>
              <c:tx>
                <c:rich>
                  <a:bodyPr/>
                  <a:lstStyle/>
                  <a:p>
                    <a:r>
                      <a:rPr lang="en-US"/>
                      <a:t>S22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'1.b Sample  (Return and Risk)'!$U$30</c:f>
              <c:strCache>
                <c:ptCount val="1"/>
                <c:pt idx="0">
                  <c:v>Stock</c:v>
                </c:pt>
              </c:strCache>
            </c:strRef>
          </c:cat>
          <c:val>
            <c:numRef>
              <c:f>'1.b Sample  (Return and Risk)'!$U$34</c:f>
              <c:numCache>
                <c:formatCode>0.00%</c:formatCode>
                <c:ptCount val="1"/>
                <c:pt idx="0">
                  <c:v>8.0188898431855518E-2</c:v>
                </c:pt>
              </c:numCache>
            </c:numRef>
          </c:val>
          <c:extLst>
            <c:ext xmlns:c16="http://schemas.microsoft.com/office/drawing/2014/chart" uri="{C3380CC4-5D6E-409C-BE32-E72D297353CC}">
              <c16:uniqueId val="{00000009-E805-8644-AF51-AA053C28D423}"/>
            </c:ext>
          </c:extLst>
        </c:ser>
        <c:ser>
          <c:idx val="4"/>
          <c:order val="4"/>
          <c:tx>
            <c:strRef>
              <c:f>'1.b Sample  (Return and Risk)'!$T$35</c:f>
              <c:strCache>
                <c:ptCount val="1"/>
                <c:pt idx="0">
                  <c:v>(ASX:TLS)</c:v>
                </c:pt>
              </c:strCache>
            </c:strRef>
          </c:tx>
          <c:spPr>
            <a:solidFill>
              <a:srgbClr val="00B050"/>
            </a:solidFill>
            <a:ln>
              <a:noFill/>
            </a:ln>
            <a:effectLst/>
          </c:spPr>
          <c:invertIfNegative val="0"/>
          <c:dLbls>
            <c:dLbl>
              <c:idx val="0"/>
              <c:layout>
                <c:manualLayout>
                  <c:x val="-2.7626376533155133E-3"/>
                  <c:y val="0.10815834589194533"/>
                </c:manualLayout>
              </c:layout>
              <c:tx>
                <c:rich>
                  <a:bodyPr/>
                  <a:lstStyle/>
                  <a:p>
                    <a:r>
                      <a:rPr lang="en-US"/>
                      <a:t>S31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'1.b Sample  (Return and Risk)'!$U$30</c:f>
              <c:strCache>
                <c:ptCount val="1"/>
                <c:pt idx="0">
                  <c:v>Stock</c:v>
                </c:pt>
              </c:strCache>
            </c:strRef>
          </c:cat>
          <c:val>
            <c:numRef>
              <c:f>'1.b Sample  (Return and Risk)'!$U$35</c:f>
              <c:numCache>
                <c:formatCode>0.00%</c:formatCode>
                <c:ptCount val="1"/>
                <c:pt idx="0">
                  <c:v>3.5698466399920525E-2</c:v>
                </c:pt>
              </c:numCache>
            </c:numRef>
          </c:val>
          <c:extLst>
            <c:ext xmlns:c16="http://schemas.microsoft.com/office/drawing/2014/chart" uri="{C3380CC4-5D6E-409C-BE32-E72D297353CC}">
              <c16:uniqueId val="{0000000B-E805-8644-AF51-AA053C28D423}"/>
            </c:ext>
          </c:extLst>
        </c:ser>
        <c:ser>
          <c:idx val="5"/>
          <c:order val="5"/>
          <c:tx>
            <c:strRef>
              <c:f>'1.b Sample  (Return and Risk)'!$T$36</c:f>
              <c:strCache>
                <c:ptCount val="1"/>
                <c:pt idx="0">
                  <c:v>(ASX:TPG)</c:v>
                </c:pt>
              </c:strCache>
            </c:strRef>
          </c:tx>
          <c:spPr>
            <a:solidFill>
              <a:srgbClr val="FFC000"/>
            </a:solidFill>
            <a:ln>
              <a:noFill/>
            </a:ln>
            <a:effectLst/>
          </c:spPr>
          <c:invertIfNegative val="0"/>
          <c:dLbls>
            <c:dLbl>
              <c:idx val="0"/>
              <c:layout>
                <c:manualLayout>
                  <c:x val="-2.7626376533155133E-3"/>
                  <c:y val="0.11756341944776666"/>
                </c:manualLayout>
              </c:layout>
              <c:tx>
                <c:rich>
                  <a:bodyPr/>
                  <a:lstStyle/>
                  <a:p>
                    <a:r>
                      <a:rPr lang="en-US"/>
                      <a:t>S32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'1.b Sample  (Return and Risk)'!$U$30</c:f>
              <c:strCache>
                <c:ptCount val="1"/>
                <c:pt idx="0">
                  <c:v>Stock</c:v>
                </c:pt>
              </c:strCache>
            </c:strRef>
          </c:cat>
          <c:val>
            <c:numRef>
              <c:f>'1.b Sample  (Return and Risk)'!$U$36</c:f>
              <c:numCache>
                <c:formatCode>0.00%</c:formatCode>
                <c:ptCount val="1"/>
                <c:pt idx="0">
                  <c:v>7.254003966278906E-2</c:v>
                </c:pt>
              </c:numCache>
            </c:numRef>
          </c:val>
          <c:extLst>
            <c:ext xmlns:c16="http://schemas.microsoft.com/office/drawing/2014/chart" uri="{C3380CC4-5D6E-409C-BE32-E72D297353CC}">
              <c16:uniqueId val="{0000000D-E805-8644-AF51-AA053C28D423}"/>
            </c:ext>
          </c:extLst>
        </c:ser>
        <c:ser>
          <c:idx val="6"/>
          <c:order val="6"/>
          <c:tx>
            <c:strRef>
              <c:f>'1.b Sample  (Return and Risk)'!$T$37</c:f>
              <c:strCache>
                <c:ptCount val="1"/>
                <c:pt idx="0">
                  <c:v>(ASX:CBA)</c:v>
                </c:pt>
              </c:strCache>
            </c:strRef>
          </c:tx>
          <c:spPr>
            <a:solidFill>
              <a:srgbClr val="00B050"/>
            </a:solidFill>
            <a:ln>
              <a:noFill/>
            </a:ln>
            <a:effectLst/>
          </c:spPr>
          <c:invertIfNegative val="0"/>
          <c:dLbls>
            <c:dLbl>
              <c:idx val="0"/>
              <c:layout>
                <c:manualLayout>
                  <c:x val="0"/>
                  <c:y val="0.10815834589194542"/>
                </c:manualLayout>
              </c:layout>
              <c:tx>
                <c:rich>
                  <a:bodyPr/>
                  <a:lstStyle/>
                  <a:p>
                    <a:r>
                      <a:rPr lang="en-US"/>
                      <a:t>S41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'1.b Sample  (Return and Risk)'!$U$30</c:f>
              <c:strCache>
                <c:ptCount val="1"/>
                <c:pt idx="0">
                  <c:v>Stock</c:v>
                </c:pt>
              </c:strCache>
            </c:strRef>
          </c:cat>
          <c:val>
            <c:numRef>
              <c:f>'1.b Sample  (Return and Risk)'!$U$37</c:f>
              <c:numCache>
                <c:formatCode>0.00%</c:formatCode>
                <c:ptCount val="1"/>
                <c:pt idx="0">
                  <c:v>6.2967475865032346E-2</c:v>
                </c:pt>
              </c:numCache>
            </c:numRef>
          </c:val>
          <c:extLst>
            <c:ext xmlns:c16="http://schemas.microsoft.com/office/drawing/2014/chart" uri="{C3380CC4-5D6E-409C-BE32-E72D297353CC}">
              <c16:uniqueId val="{0000000F-E805-8644-AF51-AA053C28D423}"/>
            </c:ext>
          </c:extLst>
        </c:ser>
        <c:ser>
          <c:idx val="7"/>
          <c:order val="7"/>
          <c:tx>
            <c:strRef>
              <c:f>'1.b Sample  (Return and Risk)'!$T$38</c:f>
              <c:strCache>
                <c:ptCount val="1"/>
                <c:pt idx="0">
                  <c:v> (ASX:SUN)</c:v>
                </c:pt>
              </c:strCache>
            </c:strRef>
          </c:tx>
          <c:spPr>
            <a:solidFill>
              <a:schemeClr val="accent2">
                <a:lumMod val="60000"/>
              </a:schemeClr>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11-E805-8644-AF51-AA053C28D423}"/>
              </c:ext>
            </c:extLst>
          </c:dPt>
          <c:dLbls>
            <c:dLbl>
              <c:idx val="0"/>
              <c:layout>
                <c:manualLayout>
                  <c:x val="-1.0129554378013652E-16"/>
                  <c:y val="9.4050735558213416E-2"/>
                </c:manualLayout>
              </c:layout>
              <c:tx>
                <c:rich>
                  <a:bodyPr/>
                  <a:lstStyle/>
                  <a:p>
                    <a:r>
                      <a:rPr lang="en-US"/>
                      <a:t>S42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E805-8644-AF51-AA053C28D42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'1.b Sample  (Return and Risk)'!$U$30</c:f>
              <c:strCache>
                <c:ptCount val="1"/>
                <c:pt idx="0">
                  <c:v>Stock</c:v>
                </c:pt>
              </c:strCache>
            </c:strRef>
          </c:cat>
          <c:val>
            <c:numRef>
              <c:f>'1.b Sample  (Return and Risk)'!$U$38</c:f>
              <c:numCache>
                <c:formatCode>0.00%</c:formatCode>
                <c:ptCount val="1"/>
                <c:pt idx="0">
                  <c:v>4.8592930823745273E-2</c:v>
                </c:pt>
              </c:numCache>
            </c:numRef>
          </c:val>
          <c:extLst>
            <c:ext xmlns:c16="http://schemas.microsoft.com/office/drawing/2014/chart" uri="{C3380CC4-5D6E-409C-BE32-E72D297353CC}">
              <c16:uniqueId val="{00000012-E805-8644-AF51-AA053C28D423}"/>
            </c:ext>
          </c:extLst>
        </c:ser>
        <c:dLbls>
          <c:showLegendKey val="0"/>
          <c:showVal val="0"/>
          <c:showCatName val="0"/>
          <c:showSerName val="0"/>
          <c:showPercent val="0"/>
          <c:showBubbleSize val="0"/>
        </c:dLbls>
        <c:gapWidth val="0"/>
        <c:axId val="775617727"/>
        <c:axId val="1472356368"/>
      </c:barChart>
      <c:catAx>
        <c:axId val="775617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1472356368"/>
        <c:crosses val="autoZero"/>
        <c:auto val="1"/>
        <c:lblAlgn val="ctr"/>
        <c:lblOffset val="100"/>
        <c:noMultiLvlLbl val="0"/>
      </c:catAx>
      <c:valAx>
        <c:axId val="14723563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7756177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E70BC-AB28-D24F-8F47-CA462A9E71BF}" type="datetimeFigureOut">
              <a:rPr lang="en-US" smtClean="0"/>
              <a:t>3/23/26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2804-47E0-9241-A95F-DAF59D1B8126}" type="slidenum">
              <a:rPr lang="en-US" smtClean="0"/>
              <a:t>‹#›</a:t>
            </a:fld>
            <a:endParaRPr lang="en-US"/>
          </a:p>
        </p:txBody>
      </p:sp>
    </p:spTree>
    <p:extLst>
      <p:ext uri="{BB962C8B-B14F-4D97-AF65-F5344CB8AC3E}">
        <p14:creationId xmlns:p14="http://schemas.microsoft.com/office/powerpoint/2010/main" val="1010117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B2804-47E0-9241-A95F-DAF59D1B8126}" type="slidenum">
              <a:rPr lang="en-US" smtClean="0"/>
              <a:t>9</a:t>
            </a:fld>
            <a:endParaRPr lang="en-US"/>
          </a:p>
        </p:txBody>
      </p:sp>
    </p:spTree>
    <p:extLst>
      <p:ext uri="{BB962C8B-B14F-4D97-AF65-F5344CB8AC3E}">
        <p14:creationId xmlns:p14="http://schemas.microsoft.com/office/powerpoint/2010/main" val="2163761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D1D34-E95C-8419-D1D4-A7DC7FB75BF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5ACAA47-5BC9-780A-292C-33C4E246A9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B3206AC-27A2-B914-5F70-03321FD9441B}"/>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5" name="Footer Placeholder 4">
            <a:extLst>
              <a:ext uri="{FF2B5EF4-FFF2-40B4-BE49-F238E27FC236}">
                <a16:creationId xmlns:a16="http://schemas.microsoft.com/office/drawing/2014/main" id="{C92408B2-1E95-24AD-25DC-9CA2407226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0730C-0CDA-B028-3CAF-18951E922DB9}"/>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44872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94A0C-D034-C2B8-1E50-5EC9BFE4573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67D5880-E9AD-30EA-2A14-FA6C86164F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536B53-728F-51D4-2985-C676586A2D42}"/>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5" name="Footer Placeholder 4">
            <a:extLst>
              <a:ext uri="{FF2B5EF4-FFF2-40B4-BE49-F238E27FC236}">
                <a16:creationId xmlns:a16="http://schemas.microsoft.com/office/drawing/2014/main" id="{2B68B193-3F0A-DF06-CF09-3074B4BF0B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CB6E0-18CF-9203-1AA7-D2AE80A05610}"/>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3588561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04404-9AF8-BC59-1233-6765B620CD0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48FB66E-5A65-690E-787B-367CE147AE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11204A6-F3EA-322E-CB18-102FAA8B334A}"/>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5" name="Footer Placeholder 4">
            <a:extLst>
              <a:ext uri="{FF2B5EF4-FFF2-40B4-BE49-F238E27FC236}">
                <a16:creationId xmlns:a16="http://schemas.microsoft.com/office/drawing/2014/main" id="{B9A08D05-19E2-082F-89A8-0E974B0E7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F5114F-8CE9-F984-447A-0EA03CFA6AC1}"/>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5700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B32F-C019-BC68-317B-206C9B9ADDD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E66C7B1-51DB-C5BA-9718-515B78BB22E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C406F46-5547-FA9D-27A5-183F14D8FF2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FD57B4D-F5A9-54A7-DDEE-BBBA5FFD7D1B}"/>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6" name="Footer Placeholder 5">
            <a:extLst>
              <a:ext uri="{FF2B5EF4-FFF2-40B4-BE49-F238E27FC236}">
                <a16:creationId xmlns:a16="http://schemas.microsoft.com/office/drawing/2014/main" id="{156B96A3-D802-BAD9-A594-2A073056DD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49C48-E692-6AD4-BA00-2A6556316554}"/>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2877709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CC2A-2417-B815-917B-ABB5B67229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7100E54-7B38-8742-51F0-8131824ADD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9CDC9D3-E9D4-5B13-5644-7D92697613B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FE549E6-DA5A-A9DF-4B19-32091E5A68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DD632D8-EA0A-23A4-2B92-9A50D4A5959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707FDAB-1435-6985-9C34-5F01DA419AF1}"/>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8" name="Footer Placeholder 7">
            <a:extLst>
              <a:ext uri="{FF2B5EF4-FFF2-40B4-BE49-F238E27FC236}">
                <a16:creationId xmlns:a16="http://schemas.microsoft.com/office/drawing/2014/main" id="{6F5847BC-DFED-75B7-2801-D6A7B7010F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856BDE-E9FC-2A38-E4E8-13ABFB1A7508}"/>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1441167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D6A1C-717B-0283-1086-A219B4177D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A958ADF-D4F5-6A0A-FBFD-8294555F9834}"/>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4" name="Footer Placeholder 3">
            <a:extLst>
              <a:ext uri="{FF2B5EF4-FFF2-40B4-BE49-F238E27FC236}">
                <a16:creationId xmlns:a16="http://schemas.microsoft.com/office/drawing/2014/main" id="{A46F435F-BBB1-F0FF-F918-B45B475300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7002DA-85E2-D6E2-0EEE-E28D2411D32E}"/>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1369031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0E76F9-E1C2-C03B-A1F4-7BD965CA386D}"/>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3" name="Footer Placeholder 2">
            <a:extLst>
              <a:ext uri="{FF2B5EF4-FFF2-40B4-BE49-F238E27FC236}">
                <a16:creationId xmlns:a16="http://schemas.microsoft.com/office/drawing/2014/main" id="{CB24C7A3-D935-6CAC-21AD-A41946A5F2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B70277-F7CF-7C01-4280-75A5DC85E989}"/>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166609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3BB4E-9D85-3221-DA73-3EDA09F4F15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B69F51E-14F8-DCA6-DE3F-1F90A681B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3A789AD-7160-8762-589D-4A4620C5F0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9F75074-D6BC-ECB1-4D11-87173D7728C0}"/>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6" name="Footer Placeholder 5">
            <a:extLst>
              <a:ext uri="{FF2B5EF4-FFF2-40B4-BE49-F238E27FC236}">
                <a16:creationId xmlns:a16="http://schemas.microsoft.com/office/drawing/2014/main" id="{6822BD21-1C8E-BA2A-B354-C101FAB1FD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F03E1F-47F9-650F-D823-16A2A69EEB8D}"/>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752818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5C3F1-07B5-F79E-666F-5A56DF9FD2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646480B-53C7-51A9-07B1-F1A12E858E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94F209-EC70-2199-C5E0-81B641744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3FD463-427D-A0CC-A897-D8D6976EAB75}"/>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6" name="Footer Placeholder 5">
            <a:extLst>
              <a:ext uri="{FF2B5EF4-FFF2-40B4-BE49-F238E27FC236}">
                <a16:creationId xmlns:a16="http://schemas.microsoft.com/office/drawing/2014/main" id="{827CDD7B-9009-4FFF-DCEB-D43E7DB141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084AD-991E-42AA-0FEB-8565256BC73B}"/>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445127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F707-6FEC-4E0D-0868-5666733731A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5793455-B597-B295-FB5A-02A7E82FD6E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721EF2F-3DB6-2268-30EA-BB94379814ED}"/>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5" name="Footer Placeholder 4">
            <a:extLst>
              <a:ext uri="{FF2B5EF4-FFF2-40B4-BE49-F238E27FC236}">
                <a16:creationId xmlns:a16="http://schemas.microsoft.com/office/drawing/2014/main" id="{6C740B9D-1C3B-9EDB-1B71-6FE9466EAA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DEE3A-0F20-ED61-F9AC-A578E9AA45C3}"/>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1901406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8D25F4-689F-4840-7BBE-35414F08803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B86C7AE-2DAB-46FE-7EED-DF3E1B47D0E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D94E8C-E79E-8EE0-9137-239C5071C6D4}"/>
              </a:ext>
            </a:extLst>
          </p:cNvPr>
          <p:cNvSpPr>
            <a:spLocks noGrp="1"/>
          </p:cNvSpPr>
          <p:nvPr>
            <p:ph type="dt" sz="half" idx="10"/>
          </p:nvPr>
        </p:nvSpPr>
        <p:spPr/>
        <p:txBody>
          <a:bodyPr/>
          <a:lstStyle/>
          <a:p>
            <a:fld id="{CCC9FFAB-03B9-F341-AA99-4DCDA21429ED}" type="datetimeFigureOut">
              <a:rPr lang="en-US" smtClean="0"/>
              <a:t>3/23/26</a:t>
            </a:fld>
            <a:endParaRPr lang="en-US"/>
          </a:p>
        </p:txBody>
      </p:sp>
      <p:sp>
        <p:nvSpPr>
          <p:cNvPr id="5" name="Footer Placeholder 4">
            <a:extLst>
              <a:ext uri="{FF2B5EF4-FFF2-40B4-BE49-F238E27FC236}">
                <a16:creationId xmlns:a16="http://schemas.microsoft.com/office/drawing/2014/main" id="{5700424A-4AF4-2C58-CD60-884D893B3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D7E5A6-7D8A-F85B-2211-5478FBDB6509}"/>
              </a:ext>
            </a:extLst>
          </p:cNvPr>
          <p:cNvSpPr>
            <a:spLocks noGrp="1"/>
          </p:cNvSpPr>
          <p:nvPr>
            <p:ph type="sldNum" sz="quarter" idx="12"/>
          </p:nvPr>
        </p:nvSpPr>
        <p:spPr/>
        <p:txBody>
          <a:bodyPr/>
          <a:lstStyle/>
          <a:p>
            <a:fld id="{86D965D1-22FA-B64D-A280-617C105AEA17}" type="slidenum">
              <a:rPr lang="en-US" smtClean="0"/>
              <a:t>‹#›</a:t>
            </a:fld>
            <a:endParaRPr lang="en-US"/>
          </a:p>
        </p:txBody>
      </p:sp>
    </p:spTree>
    <p:extLst>
      <p:ext uri="{BB962C8B-B14F-4D97-AF65-F5344CB8AC3E}">
        <p14:creationId xmlns:p14="http://schemas.microsoft.com/office/powerpoint/2010/main" val="258941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10DF5-544B-D08F-F49B-5E419ED742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D74F5D6-BA44-2C1E-A7B0-D486527CC6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DD6A83-256B-2D9D-B6CD-C5175D3496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C9FFAB-03B9-F341-AA99-4DCDA21429ED}" type="datetimeFigureOut">
              <a:rPr lang="en-US" smtClean="0"/>
              <a:t>3/23/26</a:t>
            </a:fld>
            <a:endParaRPr lang="en-US"/>
          </a:p>
        </p:txBody>
      </p:sp>
      <p:sp>
        <p:nvSpPr>
          <p:cNvPr id="5" name="Footer Placeholder 4">
            <a:extLst>
              <a:ext uri="{FF2B5EF4-FFF2-40B4-BE49-F238E27FC236}">
                <a16:creationId xmlns:a16="http://schemas.microsoft.com/office/drawing/2014/main" id="{838EDEA8-BFAF-89DA-6A75-F01382852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9A07D1-19A6-39CD-5D83-3F4406400F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D965D1-22FA-B64D-A280-617C105AEA17}" type="slidenum">
              <a:rPr lang="en-US" smtClean="0"/>
              <a:t>‹#›</a:t>
            </a:fld>
            <a:endParaRPr lang="en-US"/>
          </a:p>
        </p:txBody>
      </p:sp>
    </p:spTree>
    <p:extLst>
      <p:ext uri="{BB962C8B-B14F-4D97-AF65-F5344CB8AC3E}">
        <p14:creationId xmlns:p14="http://schemas.microsoft.com/office/powerpoint/2010/main" val="4099554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D0B110-9F2F-2DEF-9EF7-A08C3B11D1B2}"/>
              </a:ext>
            </a:extLst>
          </p:cNvPr>
          <p:cNvSpPr>
            <a:spLocks noGrp="1"/>
          </p:cNvSpPr>
          <p:nvPr>
            <p:ph type="ctrTitle"/>
          </p:nvPr>
        </p:nvSpPr>
        <p:spPr>
          <a:xfrm>
            <a:off x="4162567" y="818984"/>
            <a:ext cx="6714699" cy="3178689"/>
          </a:xfrm>
        </p:spPr>
        <p:txBody>
          <a:bodyPr>
            <a:normAutofit fontScale="90000"/>
          </a:bodyPr>
          <a:lstStyle/>
          <a:p>
            <a:pPr algn="l"/>
            <a:r>
              <a:rPr lang="en-IN" sz="4000" b="1" kern="1800" dirty="0">
                <a:solidFill>
                  <a:schemeClr val="bg1"/>
                </a:solidFill>
                <a:effectLst/>
                <a:latin typeface="Times New Roman" panose="02020603050405020304" pitchFamily="18" charset="0"/>
                <a:ea typeface="Times New Roman" panose="02020603050405020304" pitchFamily="18" charset="0"/>
              </a:rPr>
              <a:t>Investment Portfolio Optimisation (LP and ILP)</a:t>
            </a:r>
            <a:br>
              <a:rPr lang="en-IN" sz="4000" b="1" kern="1800" dirty="0">
                <a:solidFill>
                  <a:schemeClr val="bg1"/>
                </a:solidFill>
                <a:effectLst/>
                <a:latin typeface="Times New Roman" panose="02020603050405020304" pitchFamily="18" charset="0"/>
                <a:ea typeface="Times New Roman" panose="02020603050405020304" pitchFamily="18" charset="0"/>
              </a:rPr>
            </a:br>
            <a:br>
              <a:rPr lang="en-IN" sz="4000" b="1" kern="1800" dirty="0">
                <a:solidFill>
                  <a:schemeClr val="bg1"/>
                </a:solidFill>
                <a:effectLst/>
                <a:latin typeface="Times New Roman" panose="02020603050405020304" pitchFamily="18" charset="0"/>
                <a:ea typeface="Times New Roman" panose="02020603050405020304" pitchFamily="18" charset="0"/>
              </a:rPr>
            </a:br>
            <a:br>
              <a:rPr lang="en-IN" sz="4000" dirty="0">
                <a:solidFill>
                  <a:schemeClr val="bg1"/>
                </a:solidFill>
                <a:effectLst/>
                <a:latin typeface="Times New Roman" panose="02020603050405020304" pitchFamily="18" charset="0"/>
                <a:ea typeface="Times New Roman" panose="02020603050405020304" pitchFamily="18" charset="0"/>
              </a:rPr>
            </a:br>
            <a:endParaRPr lang="en-US" sz="8800" dirty="0">
              <a:solidFill>
                <a:schemeClr val="bg1"/>
              </a:solidFill>
            </a:endParaRP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94790F6-38EF-A0A4-784D-E5B92BC8C4F0}"/>
              </a:ext>
            </a:extLst>
          </p:cNvPr>
          <p:cNvSpPr>
            <a:spLocks noGrp="1"/>
          </p:cNvSpPr>
          <p:nvPr>
            <p:ph type="subTitle" idx="1"/>
          </p:nvPr>
        </p:nvSpPr>
        <p:spPr>
          <a:xfrm>
            <a:off x="4162567" y="4885155"/>
            <a:ext cx="7055893" cy="1078054"/>
          </a:xfrm>
        </p:spPr>
        <p:txBody>
          <a:bodyPr>
            <a:normAutofit/>
          </a:bodyPr>
          <a:lstStyle/>
          <a:p>
            <a:pPr algn="l"/>
            <a:r>
              <a:rPr lang="en-US" b="1" dirty="0">
                <a:solidFill>
                  <a:srgbClr val="FFFFFF"/>
                </a:solidFill>
                <a:latin typeface="Times New Roman" panose="02020603050405020304" pitchFamily="18" charset="0"/>
                <a:cs typeface="Times New Roman" panose="02020603050405020304" pitchFamily="18" charset="0"/>
              </a:rPr>
              <a:t>GOKUL BASKAR </a:t>
            </a:r>
          </a:p>
        </p:txBody>
      </p:sp>
    </p:spTree>
    <p:extLst>
      <p:ext uri="{BB962C8B-B14F-4D97-AF65-F5344CB8AC3E}">
        <p14:creationId xmlns:p14="http://schemas.microsoft.com/office/powerpoint/2010/main" val="489761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0383" y="0"/>
            <a:ext cx="8451607"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374517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B0A0B4-3584-EB50-EFBD-4887F6845B6D}"/>
              </a:ext>
            </a:extLst>
          </p:cNvPr>
          <p:cNvSpPr>
            <a:spLocks noGrp="1"/>
          </p:cNvSpPr>
          <p:nvPr>
            <p:ph type="title"/>
          </p:nvPr>
        </p:nvSpPr>
        <p:spPr>
          <a:xfrm>
            <a:off x="1156852" y="637762"/>
            <a:ext cx="2190782" cy="5576770"/>
          </a:xfrm>
        </p:spPr>
        <p:txBody>
          <a:bodyPr anchor="t">
            <a:normAutofit/>
          </a:bodyPr>
          <a:lstStyle/>
          <a:p>
            <a:r>
              <a:rPr lang="en-IN" sz="2800" b="1" ker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Introduction</a:t>
            </a:r>
            <a:br>
              <a:rPr lang="en-I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sz="2800">
              <a:solidFill>
                <a:schemeClr val="bg1"/>
              </a:solidFill>
            </a:endParaRPr>
          </a:p>
        </p:txBody>
      </p:sp>
      <p:sp>
        <p:nvSpPr>
          <p:cNvPr id="27" name="Rectangle 26">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733"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D97DBCFE-E76B-1657-1001-F647A602D7B1}"/>
              </a:ext>
            </a:extLst>
          </p:cNvPr>
          <p:cNvSpPr>
            <a:spLocks noGrp="1"/>
          </p:cNvSpPr>
          <p:nvPr>
            <p:ph idx="1"/>
          </p:nvPr>
        </p:nvSpPr>
        <p:spPr>
          <a:xfrm>
            <a:off x="4654732" y="850052"/>
            <a:ext cx="6390623" cy="5326911"/>
          </a:xfrm>
        </p:spPr>
        <p:txBody>
          <a:bodyPr>
            <a:normAutofit/>
          </a:bodyPr>
          <a:lstStyle/>
          <a:p>
            <a:pPr marL="342900" lvl="0" indent="-342900" algn="just">
              <a:spcAft>
                <a:spcPts val="800"/>
              </a:spcAft>
              <a:buSzPts val="1000"/>
              <a:buFont typeface="Symbol" pitchFamily="2" charset="2"/>
              <a:buChar char=""/>
              <a:tabLst>
                <a:tab pos="4572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Purpose:</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 Optimize an 8-asset investment portfolio to maximize returns while managing risk. The task uses real ASX stock data to demonstrate portfolio modelling techniques.</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itchFamily="2" charset="2"/>
              <a:buChar char=""/>
              <a:tabLst>
                <a:tab pos="4572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Approach:</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 Used historical monthly returns (Jan 2021 – Jan 2025) for 8 selected stocks and formulated two optimisation models – a Linear Program (LP) and an Integer Linear Program (ILP). The LP allows fractional investment in each asset, while the ILP restricts to choosing a subset of assets.</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itchFamily="2" charset="2"/>
              <a:buChar char=""/>
              <a:tabLst>
                <a:tab pos="4572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Tools:</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 Microsoft Excel and Solver were used to implement the models. Constraints were derived from diversification and risk requirements. Solver’s Simplex LP algorithm (and branch-and-bound for ILP) identified the optimal allocations. Sensitivity analysis was conducted on the LP model to interpret constraint impacts.</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endParaRPr lang="en-US" sz="2000" dirty="0"/>
          </a:p>
        </p:txBody>
      </p:sp>
    </p:spTree>
    <p:extLst>
      <p:ext uri="{BB962C8B-B14F-4D97-AF65-F5344CB8AC3E}">
        <p14:creationId xmlns:p14="http://schemas.microsoft.com/office/powerpoint/2010/main" val="90463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4818D-9E05-AEBB-0079-A37B1EC3E882}"/>
              </a:ext>
            </a:extLst>
          </p:cNvPr>
          <p:cNvSpPr>
            <a:spLocks noGrp="1"/>
          </p:cNvSpPr>
          <p:nvPr>
            <p:ph type="title"/>
          </p:nvPr>
        </p:nvSpPr>
        <p:spPr>
          <a:xfrm>
            <a:off x="145026" y="394622"/>
            <a:ext cx="4780935" cy="976978"/>
          </a:xfrm>
        </p:spPr>
        <p:txBody>
          <a:bodyPr>
            <a:noAutofit/>
          </a:bodyPr>
          <a:lstStyle/>
          <a:p>
            <a:r>
              <a:rPr lang="en-IN" sz="2800" b="1"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Asset Selection by Sector</a:t>
            </a:r>
            <a:br>
              <a:rPr lang="en-IN" sz="2000" kern="100">
                <a:effectLst/>
                <a:latin typeface="Aptos" panose="020B0004020202020204" pitchFamily="34" charset="0"/>
                <a:ea typeface="Aptos" panose="020B0004020202020204" pitchFamily="34" charset="0"/>
                <a:cs typeface="Times New Roman" panose="02020603050405020304" pitchFamily="18" charset="0"/>
              </a:rPr>
            </a:br>
            <a:endParaRPr lang="en-US" sz="2800" dirty="0"/>
          </a:p>
        </p:txBody>
      </p:sp>
      <p:sp>
        <p:nvSpPr>
          <p:cNvPr id="3" name="Content Placeholder 2">
            <a:extLst>
              <a:ext uri="{FF2B5EF4-FFF2-40B4-BE49-F238E27FC236}">
                <a16:creationId xmlns:a16="http://schemas.microsoft.com/office/drawing/2014/main" id="{39C10795-0DB2-4930-D5B7-E0A3DC14C44D}"/>
              </a:ext>
            </a:extLst>
          </p:cNvPr>
          <p:cNvSpPr>
            <a:spLocks noGrp="1"/>
          </p:cNvSpPr>
          <p:nvPr>
            <p:ph idx="1"/>
          </p:nvPr>
        </p:nvSpPr>
        <p:spPr>
          <a:xfrm>
            <a:off x="450741" y="1371600"/>
            <a:ext cx="6325615" cy="4975225"/>
          </a:xfrm>
        </p:spPr>
        <p:txBody>
          <a:bodyPr>
            <a:normAutofit lnSpcReduction="10000"/>
          </a:bodyPr>
          <a:lstStyle/>
          <a:p>
            <a:pPr marL="342900" lvl="0" indent="-342900">
              <a:lnSpc>
                <a:spcPct val="115000"/>
              </a:lnSpc>
              <a:spcAft>
                <a:spcPts val="800"/>
              </a:spcAft>
              <a:buSzPts val="1000"/>
              <a:buFont typeface="Symbol" pitchFamily="2" charset="2"/>
              <a:buChar char=""/>
              <a:tabLst>
                <a:tab pos="457200" algn="l"/>
              </a:tabLst>
            </a:pP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Chose 8 ASX-listed stocks across </a:t>
            </a:r>
            <a:r>
              <a:rPr lang="en-IN" sz="16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sectors</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(2 stocks per sector) to ensure broad industry representation:</a:t>
            </a:r>
            <a:endParaRPr lang="en-IN"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6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Health Care (S1):</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 Medicus (PME)</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Paragon Care (PGC)</a:t>
            </a:r>
            <a:endParaRPr lang="en-IN"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6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Technology (S2):</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Xero (XRO)</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Cosol Ltd (COS)</a:t>
            </a:r>
            <a:endParaRPr lang="en-IN"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6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Communication Services (S3):</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Telstra (TLS)</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TPG Telecom (TPG)</a:t>
            </a:r>
            <a:endParaRPr lang="en-IN"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6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Financials (S4):</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Commonwealth Bank (CBA)</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6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Suncorp (SUN)</a:t>
            </a:r>
            <a:endParaRPr lang="en-IN"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Each sector includes one given stock and one chosen stock.</a:t>
            </a:r>
          </a:p>
          <a:p>
            <a:pPr marL="342900" lvl="0" indent="-342900">
              <a:lnSpc>
                <a:spcPct val="115000"/>
              </a:lnSpc>
              <a:spcAft>
                <a:spcPts val="800"/>
              </a:spcAft>
              <a:buSzPts val="1000"/>
              <a:buFont typeface="Symbol" pitchFamily="2" charset="2"/>
              <a:buChar char=""/>
              <a:tabLst>
                <a:tab pos="457200" algn="l"/>
              </a:tabLst>
            </a:pP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provides a mix of large-cap and mid/small-cap companies. All selected stocks had 48 months of price data up to Jan 2025.</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6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Rationale:</a:t>
            </a:r>
            <a:r>
              <a:rPr lang="en-IN" sz="1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Selecting one stock from each major sector ensures the portfolio is not over-concentrated in any single industry, aligning with the diversification requirement.</a:t>
            </a:r>
            <a:endParaRPr lang="en-IN"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endParaRPr lang="en-US" sz="2400" dirty="0"/>
          </a:p>
        </p:txBody>
      </p:sp>
      <p:pic>
        <p:nvPicPr>
          <p:cNvPr id="5" name="Picture 4" descr="A table with numbers and a green background&#10;&#10;AI-generated content may be incorrect.">
            <a:extLst>
              <a:ext uri="{FF2B5EF4-FFF2-40B4-BE49-F238E27FC236}">
                <a16:creationId xmlns:a16="http://schemas.microsoft.com/office/drawing/2014/main" id="{BC70F94D-03D2-6512-B329-077523018B0F}"/>
              </a:ext>
            </a:extLst>
          </p:cNvPr>
          <p:cNvPicPr>
            <a:picLocks noChangeAspect="1"/>
          </p:cNvPicPr>
          <p:nvPr/>
        </p:nvPicPr>
        <p:blipFill>
          <a:blip r:embed="rId2"/>
          <a:stretch>
            <a:fillRect/>
          </a:stretch>
        </p:blipFill>
        <p:spPr>
          <a:xfrm>
            <a:off x="7266041" y="57150"/>
            <a:ext cx="4660900" cy="6743700"/>
          </a:xfrm>
          <a:prstGeom prst="rect">
            <a:avLst/>
          </a:prstGeom>
        </p:spPr>
      </p:pic>
    </p:spTree>
    <p:extLst>
      <p:ext uri="{BB962C8B-B14F-4D97-AF65-F5344CB8AC3E}">
        <p14:creationId xmlns:p14="http://schemas.microsoft.com/office/powerpoint/2010/main" val="1553021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F7577-473F-619B-B8D4-07A628E842DF}"/>
              </a:ext>
            </a:extLst>
          </p:cNvPr>
          <p:cNvSpPr>
            <a:spLocks noGrp="1"/>
          </p:cNvSpPr>
          <p:nvPr>
            <p:ph type="title"/>
          </p:nvPr>
        </p:nvSpPr>
        <p:spPr>
          <a:xfrm>
            <a:off x="619325" y="384992"/>
            <a:ext cx="5858967" cy="1325563"/>
          </a:xfrm>
        </p:spPr>
        <p:txBody>
          <a:bodyPr/>
          <a:lstStyle/>
          <a:p>
            <a:r>
              <a:rPr lang="en-IN"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Risk Classification (R1, R2, R3</a:t>
            </a:r>
            <a:r>
              <a:rPr lang="en-IN"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dirty="0"/>
          </a:p>
        </p:txBody>
      </p:sp>
      <p:pic>
        <p:nvPicPr>
          <p:cNvPr id="5" name="Content Placeholder 4" descr="A table with numbers and text&#10;&#10;AI-generated content may be incorrect.">
            <a:extLst>
              <a:ext uri="{FF2B5EF4-FFF2-40B4-BE49-F238E27FC236}">
                <a16:creationId xmlns:a16="http://schemas.microsoft.com/office/drawing/2014/main" id="{CBF2E7BB-7FAF-18A5-0A3E-3693AE6F2DE4}"/>
              </a:ext>
            </a:extLst>
          </p:cNvPr>
          <p:cNvPicPr>
            <a:picLocks noGrp="1" noChangeAspect="1"/>
          </p:cNvPicPr>
          <p:nvPr>
            <p:ph idx="1"/>
          </p:nvPr>
        </p:nvPicPr>
        <p:blipFill>
          <a:blip r:embed="rId2"/>
          <a:stretch>
            <a:fillRect/>
          </a:stretch>
        </p:blipFill>
        <p:spPr>
          <a:xfrm>
            <a:off x="4441094" y="1047773"/>
            <a:ext cx="7593106" cy="2794174"/>
          </a:xfrm>
        </p:spPr>
      </p:pic>
      <p:sp>
        <p:nvSpPr>
          <p:cNvPr id="6" name="TextBox 5">
            <a:extLst>
              <a:ext uri="{FF2B5EF4-FFF2-40B4-BE49-F238E27FC236}">
                <a16:creationId xmlns:a16="http://schemas.microsoft.com/office/drawing/2014/main" id="{28A648C4-68BD-6FC2-39B3-607B8A205A07}"/>
              </a:ext>
            </a:extLst>
          </p:cNvPr>
          <p:cNvSpPr txBox="1"/>
          <p:nvPr/>
        </p:nvSpPr>
        <p:spPr>
          <a:xfrm>
            <a:off x="0" y="1413433"/>
            <a:ext cx="4518212" cy="5444567"/>
          </a:xfrm>
          <a:prstGeom prst="rect">
            <a:avLst/>
          </a:prstGeom>
          <a:noFill/>
        </p:spPr>
        <p:txBody>
          <a:bodyPr wrap="square" rtlCol="0">
            <a:spAutoFit/>
          </a:bodyPr>
          <a:lstStyle/>
          <a:p>
            <a:pPr marL="342900" lvl="0" indent="-342900">
              <a:lnSpc>
                <a:spcPct val="115000"/>
              </a:lnSpc>
              <a:spcAft>
                <a:spcPts val="800"/>
              </a:spcAft>
              <a:buSzPts val="1000"/>
              <a:buFont typeface="Symbol" pitchFamily="2" charset="2"/>
              <a:buChar char=""/>
              <a:tabLst>
                <a:tab pos="4572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Classified the 8 stocks into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three risk groups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based on their return volatility (standard deviation):</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R1 (Low Risk):</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Lowest volatility stocks – TLS, CBA, SUN. These are large, stable firms with relatively steady returns.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R2 (Medium Risk):</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Moderate volatility stocks –  PME, XRO. These growth-oriented companies exhibit higher fluctuation but not the highest risk in the set.</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R3 (High Risk):</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Highest volatility stocks – PGC, COS, TPG. Smaller or more volatile companies with the most uncertainty in returns.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Justification: </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Calculated each stock’s monthly return std. dev. and ranked them. Cut-off values were chosen to create three tiers (R1 &lt; R2 &lt; R3) with at least two stocks in each tier​. This ensures the portfolio contains a spread of risk levels.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Risk Group Ranges: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R1 assets had the lowest standard deviations (most stable), R3 assets the highest. For example, defensive stocks like Telstra and CBA fell in R1, whereas a small-cap tech stock (COS) and telecom challenger (TPG) were R3 due to higher volatility. This grouping informed the risk constraints in the models.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graphicFrame>
        <p:nvGraphicFramePr>
          <p:cNvPr id="7" name="Chart 6">
            <a:extLst>
              <a:ext uri="{FF2B5EF4-FFF2-40B4-BE49-F238E27FC236}">
                <a16:creationId xmlns:a16="http://schemas.microsoft.com/office/drawing/2014/main" id="{CE6AE298-A0F7-F911-BBBC-D543A4B22AF1}"/>
              </a:ext>
            </a:extLst>
          </p:cNvPr>
          <p:cNvGraphicFramePr>
            <a:graphicFrameLocks/>
          </p:cNvGraphicFramePr>
          <p:nvPr>
            <p:extLst>
              <p:ext uri="{D42A27DB-BD31-4B8C-83A1-F6EECF244321}">
                <p14:modId xmlns:p14="http://schemas.microsoft.com/office/powerpoint/2010/main" val="3219151881"/>
              </p:ext>
            </p:extLst>
          </p:nvPr>
        </p:nvGraphicFramePr>
        <p:xfrm>
          <a:off x="4708712" y="3999638"/>
          <a:ext cx="4597056" cy="27006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80991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F0B8BD-B21F-4AAC-FA46-2F2525771ED4}"/>
              </a:ext>
            </a:extLst>
          </p:cNvPr>
          <p:cNvSpPr>
            <a:spLocks noGrp="1"/>
          </p:cNvSpPr>
          <p:nvPr>
            <p:ph type="title"/>
          </p:nvPr>
        </p:nvSpPr>
        <p:spPr>
          <a:xfrm>
            <a:off x="1156851" y="637762"/>
            <a:ext cx="9888496" cy="900131"/>
          </a:xfrm>
        </p:spPr>
        <p:txBody>
          <a:bodyPr anchor="t">
            <a:normAutofit/>
          </a:bodyPr>
          <a:lstStyle/>
          <a:p>
            <a:r>
              <a:rPr lang="en-IN" sz="28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Linear Programming Model – Optimal Solution</a:t>
            </a:r>
            <a:br>
              <a:rPr lang="en-IN"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sz="2800"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C2A390-0425-ED9B-815C-4F54D3A887E5}"/>
              </a:ext>
            </a:extLst>
          </p:cNvPr>
          <p:cNvSpPr>
            <a:spLocks noGrp="1"/>
          </p:cNvSpPr>
          <p:nvPr>
            <p:ph idx="1"/>
          </p:nvPr>
        </p:nvSpPr>
        <p:spPr>
          <a:xfrm>
            <a:off x="0" y="2293512"/>
            <a:ext cx="6013242" cy="4564488"/>
          </a:xfrm>
        </p:spPr>
        <p:txBody>
          <a:bodyPr>
            <a:normAutofit fontScale="92500" lnSpcReduction="10000"/>
          </a:bodyPr>
          <a:lstStyle/>
          <a:p>
            <a:pPr>
              <a:spcAft>
                <a:spcPts val="800"/>
              </a:spcAft>
              <a:buNone/>
            </a:pPr>
            <a:r>
              <a:rPr lang="en-IN" sz="1300" i="1" kern="0" dirty="0">
                <a:effectLst/>
                <a:latin typeface="Times New Roman" panose="02020603050405020304" pitchFamily="18" charset="0"/>
                <a:ea typeface="Times New Roman" panose="02020603050405020304" pitchFamily="18" charset="0"/>
                <a:cs typeface="Times New Roman" panose="02020603050405020304" pitchFamily="18" charset="0"/>
              </a:rPr>
              <a:t>      Optimal portfolio allocation under the LP model (proportion of total investment per asset). The solution heavily allocates to Suncorp (50%), while several assets are kept at the minimum 5% allocation due to constraints.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itchFamily="2" charset="2"/>
              <a:buChar char=""/>
              <a:tabLst>
                <a:tab pos="457200" algn="l"/>
              </a:tabLst>
            </a:pP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Optimal Weights:</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The LP optimization distributes the 100% as follows: </a:t>
            </a: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SUN 50%</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PME 10%, XRO 10%, TLS 10%, and </a:t>
            </a: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5% each</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to PGC, COS, TPG, CBA. The portfolio’s </a:t>
            </a: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expected return is 1.67% </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under this allocation .</a:t>
            </a:r>
          </a:p>
          <a:p>
            <a:pPr marL="342900" lvl="0" indent="-342900" algn="just">
              <a:spcAft>
                <a:spcPts val="800"/>
              </a:spcAft>
              <a:buSzPts val="1000"/>
              <a:buFont typeface="Symbol" pitchFamily="2" charset="2"/>
              <a:buChar char=""/>
              <a:tabLst>
                <a:tab pos="457200" algn="l"/>
              </a:tabLst>
            </a:pP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Feasible and Optimal:</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Solver found that all constraints are satisfied with this allocation (100% invested, all sector minima met, R3 sum = 15% exactly, etc.). Every asset received at least the 5% minimum, and higher weights were given to those with better return-to-risk trade-offs.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itchFamily="2" charset="2"/>
              <a:buChar char=""/>
              <a:tabLst>
                <a:tab pos="457200" algn="l"/>
              </a:tabLst>
            </a:pP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Portfolio Characteristics:</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The solution is highly diversified but not equal-weighted – one low-risk Financial stock (Suncorp) dominates the portfolio at 50%. This occurred because Suncorp had a relatively high average return for a low-risk stock, so the model allocated as much as allowed to it. Other sectors (Health, Tech, Comm) are each exactly at 15% (the minimum required for those sectors, comprised of 10%+5% among their two stocks). High-risk assets (PGC, COS, TPG) together sum to 15%, hitting the R3 cap. Essentially, the LP put extra weight on </a:t>
            </a: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safe, higher-return assets</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(like SUN) and only the minimum on riskier or lower-return assets.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itchFamily="2" charset="2"/>
              <a:buChar char=""/>
              <a:tabLst>
                <a:tab pos="457200" algn="l"/>
              </a:tabLst>
            </a:pP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Every sector is represented (Health:15%, IT:15%, Comm:15%, Finance:55%), and the </a:t>
            </a: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risk profile</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skews conservative: total R1 = 65%, R2 = 20%, R3 = 15%. This aligns with the constraint that R1 ≥ R2,R3, indicating the </a:t>
            </a:r>
            <a:r>
              <a:rPr lang="en-IN" sz="1300" b="1" kern="0" dirty="0">
                <a:effectLst/>
                <a:latin typeface="Times New Roman" panose="02020603050405020304" pitchFamily="18" charset="0"/>
                <a:ea typeface="Times New Roman" panose="02020603050405020304" pitchFamily="18" charset="0"/>
                <a:cs typeface="Times New Roman" panose="02020603050405020304" pitchFamily="18" charset="0"/>
              </a:rPr>
              <a:t>lowest-risk group holds the largest share</a:t>
            </a:r>
            <a:r>
              <a:rPr lang="en-IN" sz="1300" kern="0" dirty="0">
                <a:effectLst/>
                <a:latin typeface="Times New Roman" panose="02020603050405020304" pitchFamily="18" charset="0"/>
                <a:ea typeface="Times New Roman" panose="02020603050405020304" pitchFamily="18" charset="0"/>
                <a:cs typeface="Times New Roman" panose="02020603050405020304" pitchFamily="18" charset="0"/>
              </a:rPr>
              <a:t> of the portfolio (mainly via SUN and CBA’s allocations).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300" dirty="0"/>
          </a:p>
        </p:txBody>
      </p:sp>
      <p:pic>
        <p:nvPicPr>
          <p:cNvPr id="6" name="Picture 5" descr="A spreadsheet with numbers and text&#10;&#10;AI-generated content may be incorrect.">
            <a:extLst>
              <a:ext uri="{FF2B5EF4-FFF2-40B4-BE49-F238E27FC236}">
                <a16:creationId xmlns:a16="http://schemas.microsoft.com/office/drawing/2014/main" id="{5E97341E-59C6-8F83-18BF-AC150AB39034}"/>
              </a:ext>
            </a:extLst>
          </p:cNvPr>
          <p:cNvPicPr>
            <a:picLocks noChangeAspect="1"/>
          </p:cNvPicPr>
          <p:nvPr/>
        </p:nvPicPr>
        <p:blipFill>
          <a:blip r:embed="rId2"/>
          <a:stretch>
            <a:fillRect/>
          </a:stretch>
        </p:blipFill>
        <p:spPr>
          <a:xfrm>
            <a:off x="6178748" y="1839389"/>
            <a:ext cx="6013242" cy="4964839"/>
          </a:xfrm>
          <a:prstGeom prst="rect">
            <a:avLst/>
          </a:prstGeom>
        </p:spPr>
      </p:pic>
    </p:spTree>
    <p:extLst>
      <p:ext uri="{BB962C8B-B14F-4D97-AF65-F5344CB8AC3E}">
        <p14:creationId xmlns:p14="http://schemas.microsoft.com/office/powerpoint/2010/main" val="1478795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8A241A-7605-4770-FC68-D1823BF5B29B}"/>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C465CA-02D9-D545-8BF6-D703B0B0D1C8}"/>
              </a:ext>
            </a:extLst>
          </p:cNvPr>
          <p:cNvSpPr>
            <a:spLocks noGrp="1"/>
          </p:cNvSpPr>
          <p:nvPr>
            <p:ph type="title"/>
          </p:nvPr>
        </p:nvSpPr>
        <p:spPr>
          <a:xfrm>
            <a:off x="1155557" y="637763"/>
            <a:ext cx="4310698" cy="1627274"/>
          </a:xfrm>
        </p:spPr>
        <p:txBody>
          <a:bodyPr anchor="t">
            <a:normAutofit/>
          </a:bodyPr>
          <a:lstStyle/>
          <a:p>
            <a:r>
              <a:rPr lang="en-IN" sz="37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 Solver Setup</a:t>
            </a:r>
            <a:br>
              <a:rPr lang="en-IN" sz="3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sz="3700" dirty="0">
              <a:solidFill>
                <a:schemeClr val="bg1"/>
              </a:solidFill>
            </a:endParaRPr>
          </a:p>
        </p:txBody>
      </p:sp>
      <p:sp>
        <p:nvSpPr>
          <p:cNvPr id="41" name="Rectangle 4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6" name="Content Placeholder 35">
            <a:extLst>
              <a:ext uri="{FF2B5EF4-FFF2-40B4-BE49-F238E27FC236}">
                <a16:creationId xmlns:a16="http://schemas.microsoft.com/office/drawing/2014/main" id="{0298FD63-F43E-6647-164A-57D7AD2DD37C}"/>
              </a:ext>
            </a:extLst>
          </p:cNvPr>
          <p:cNvSpPr>
            <a:spLocks noGrp="1"/>
          </p:cNvSpPr>
          <p:nvPr>
            <p:ph idx="1"/>
          </p:nvPr>
        </p:nvSpPr>
        <p:spPr>
          <a:xfrm>
            <a:off x="1155556" y="2581065"/>
            <a:ext cx="4284416" cy="3633467"/>
          </a:xfrm>
        </p:spPr>
        <p:txBody>
          <a:bodyPr>
            <a:normAutofit/>
          </a:bodyPr>
          <a:lstStyle/>
          <a:p>
            <a:r>
              <a:rPr lang="en-IN" sz="1400" b="0" i="0" u="none" strike="noStrike" dirty="0">
                <a:solidFill>
                  <a:schemeClr val="bg1"/>
                </a:solidFill>
                <a:effectLst/>
                <a:latin typeface="Times New Roman" panose="02020603050405020304" pitchFamily="18" charset="0"/>
                <a:cs typeface="Times New Roman" panose="02020603050405020304" pitchFamily="18" charset="0"/>
              </a:rPr>
              <a:t>Within this linear model, the solving approach used is the Simplex LP method.</a:t>
            </a:r>
          </a:p>
          <a:p>
            <a:r>
              <a:rPr lang="en-IN" sz="1400" b="0" i="0" u="none" strike="noStrike" dirty="0">
                <a:solidFill>
                  <a:schemeClr val="bg1"/>
                </a:solidFill>
                <a:effectLst/>
                <a:latin typeface="Times New Roman" panose="02020603050405020304" pitchFamily="18" charset="0"/>
                <a:cs typeface="Times New Roman" panose="02020603050405020304" pitchFamily="18" charset="0"/>
              </a:rPr>
              <a:t>The list of </a:t>
            </a:r>
            <a:r>
              <a:rPr lang="en-IN" sz="1400" b="1" i="0" u="none" strike="noStrike" dirty="0">
                <a:solidFill>
                  <a:schemeClr val="bg1"/>
                </a:solidFill>
                <a:effectLst/>
                <a:latin typeface="Times New Roman" panose="02020603050405020304" pitchFamily="18" charset="0"/>
                <a:cs typeface="Times New Roman" panose="02020603050405020304" pitchFamily="18" charset="0"/>
              </a:rPr>
              <a:t>constraints</a:t>
            </a:r>
            <a:r>
              <a:rPr lang="en-IN" sz="1400" b="0" i="0" u="none" strike="noStrike" dirty="0">
                <a:solidFill>
                  <a:schemeClr val="bg1"/>
                </a:solidFill>
                <a:effectLst/>
                <a:latin typeface="Times New Roman" panose="02020603050405020304" pitchFamily="18" charset="0"/>
                <a:cs typeface="Times New Roman" panose="02020603050405020304" pitchFamily="18" charset="0"/>
              </a:rPr>
              <a:t> ensures that the model adheres to all required conditions (such as risk and sector allocations), and </a:t>
            </a:r>
            <a:r>
              <a:rPr lang="en-IN" sz="1400" b="1" i="0" u="none" strike="noStrike" dirty="0">
                <a:solidFill>
                  <a:schemeClr val="bg1"/>
                </a:solidFill>
                <a:effectLst/>
                <a:latin typeface="Times New Roman" panose="02020603050405020304" pitchFamily="18" charset="0"/>
                <a:cs typeface="Times New Roman" panose="02020603050405020304" pitchFamily="18" charset="0"/>
              </a:rPr>
              <a:t>“Simplex LP”</a:t>
            </a:r>
            <a:r>
              <a:rPr lang="en-IN" sz="1400" b="0" i="0" u="none" strike="noStrike" dirty="0">
                <a:solidFill>
                  <a:schemeClr val="bg1"/>
                </a:solidFill>
                <a:effectLst/>
                <a:latin typeface="Times New Roman" panose="02020603050405020304" pitchFamily="18" charset="0"/>
                <a:cs typeface="Times New Roman" panose="02020603050405020304" pitchFamily="18" charset="0"/>
              </a:rPr>
              <a:t> is the chosen solving method because it efficiently handles linear optimization problems.</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58F81A3-9E5B-3FC3-D6BD-618DA083F5DB}"/>
              </a:ext>
            </a:extLst>
          </p:cNvPr>
          <p:cNvPicPr>
            <a:picLocks noChangeAspect="1"/>
          </p:cNvPicPr>
          <p:nvPr/>
        </p:nvPicPr>
        <p:blipFill>
          <a:blip r:embed="rId2"/>
          <a:stretch>
            <a:fillRect/>
          </a:stretch>
        </p:blipFill>
        <p:spPr>
          <a:xfrm>
            <a:off x="6815063" y="637762"/>
            <a:ext cx="4154692" cy="5576770"/>
          </a:xfrm>
          <a:prstGeom prst="rect">
            <a:avLst/>
          </a:prstGeom>
        </p:spPr>
      </p:pic>
    </p:spTree>
    <p:extLst>
      <p:ext uri="{BB962C8B-B14F-4D97-AF65-F5344CB8AC3E}">
        <p14:creationId xmlns:p14="http://schemas.microsoft.com/office/powerpoint/2010/main" val="2751804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879090-D092-E930-5996-108A40406F84}"/>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IN" sz="2000" b="0" i="0" u="none" strike="noStrike" dirty="0">
                <a:solidFill>
                  <a:schemeClr val="bg1"/>
                </a:solidFill>
                <a:effectLst/>
                <a:latin typeface="Times New Roman" panose="02020603050405020304" pitchFamily="18" charset="0"/>
                <a:cs typeface="Times New Roman" panose="02020603050405020304" pitchFamily="18" charset="0"/>
              </a:rPr>
              <a:t>Conceptual Diagrams for Linear Programming </a:t>
            </a:r>
            <a:endParaRPr lang="en-US" kern="1200" dirty="0">
              <a:solidFill>
                <a:schemeClr val="bg1"/>
              </a:solidFill>
              <a:latin typeface="Times New Roman" panose="02020603050405020304" pitchFamily="18" charset="0"/>
              <a:cs typeface="Times New Roman" panose="02020603050405020304" pitchFamily="18" charset="0"/>
            </a:endParaRPr>
          </a:p>
        </p:txBody>
      </p:sp>
      <p:pic>
        <p:nvPicPr>
          <p:cNvPr id="6" name="Picture 5" descr="A screenshot of a computer screen&#10;&#10;AI-generated content may be incorrect.">
            <a:extLst>
              <a:ext uri="{FF2B5EF4-FFF2-40B4-BE49-F238E27FC236}">
                <a16:creationId xmlns:a16="http://schemas.microsoft.com/office/drawing/2014/main" id="{0CDDCE74-1F46-B4BB-4736-5D3E960DA2A7}"/>
              </a:ext>
            </a:extLst>
          </p:cNvPr>
          <p:cNvPicPr>
            <a:picLocks noChangeAspect="1"/>
          </p:cNvPicPr>
          <p:nvPr/>
        </p:nvPicPr>
        <p:blipFill>
          <a:blip r:embed="rId2"/>
          <a:stretch>
            <a:fillRect/>
          </a:stretch>
        </p:blipFill>
        <p:spPr>
          <a:xfrm>
            <a:off x="4032514" y="552793"/>
            <a:ext cx="7637188" cy="5333142"/>
          </a:xfrm>
          <a:prstGeom prst="rect">
            <a:avLst/>
          </a:prstGeom>
        </p:spPr>
      </p:pic>
    </p:spTree>
    <p:extLst>
      <p:ext uri="{BB962C8B-B14F-4D97-AF65-F5344CB8AC3E}">
        <p14:creationId xmlns:p14="http://schemas.microsoft.com/office/powerpoint/2010/main" val="3575762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BCF063-E9DC-CC2B-115C-B3B390D84AC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5682BF1-A2AF-08B9-4C63-668618C54B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C111C3-EEE1-2F13-61C1-719B880E1611}"/>
              </a:ext>
            </a:extLst>
          </p:cNvPr>
          <p:cNvSpPr>
            <a:spLocks noGrp="1"/>
          </p:cNvSpPr>
          <p:nvPr>
            <p:ph type="title"/>
          </p:nvPr>
        </p:nvSpPr>
        <p:spPr>
          <a:xfrm>
            <a:off x="1156851" y="637762"/>
            <a:ext cx="9888496" cy="900131"/>
          </a:xfrm>
        </p:spPr>
        <p:txBody>
          <a:bodyPr anchor="t">
            <a:normAutofit/>
          </a:bodyPr>
          <a:lstStyle/>
          <a:p>
            <a:r>
              <a:rPr lang="en-IN" sz="28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Linear Programming Algebraic Formulation</a:t>
            </a:r>
            <a:br>
              <a:rPr lang="en-IN"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sz="2800" dirty="0">
              <a:solidFill>
                <a:schemeClr val="bg1"/>
              </a:solidFill>
            </a:endParaRPr>
          </a:p>
        </p:txBody>
      </p:sp>
      <p:sp>
        <p:nvSpPr>
          <p:cNvPr id="10" name="Rectangle 9">
            <a:extLst>
              <a:ext uri="{FF2B5EF4-FFF2-40B4-BE49-F238E27FC236}">
                <a16:creationId xmlns:a16="http://schemas.microsoft.com/office/drawing/2014/main" id="{A5E22E3A-AD6C-3431-B60F-D1AC271D6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2BA0A8-AA1F-2115-8CFF-17244408D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DED64E-6B28-2AF6-24F9-0198D9504516}"/>
              </a:ext>
            </a:extLst>
          </p:cNvPr>
          <p:cNvSpPr>
            <a:spLocks noGrp="1"/>
          </p:cNvSpPr>
          <p:nvPr>
            <p:ph idx="1"/>
          </p:nvPr>
        </p:nvSpPr>
        <p:spPr>
          <a:xfrm>
            <a:off x="242887" y="2181360"/>
            <a:ext cx="12343559" cy="4676639"/>
          </a:xfrm>
        </p:spPr>
        <p:txBody>
          <a:bodyPr>
            <a:normAutofit/>
          </a:bodyPr>
          <a:lstStyle/>
          <a:p>
            <a:pPr marL="0" indent="0">
              <a:buNone/>
            </a:pPr>
            <a:r>
              <a:rPr lang="en-AU" sz="1800" dirty="0">
                <a:effectLst/>
              </a:rPr>
              <a:t>The objective is to Maximize:</a:t>
            </a:r>
          </a:p>
          <a:p>
            <a:pPr marL="0" indent="0">
              <a:buNone/>
            </a:pPr>
            <a:r>
              <a:rPr lang="en-AU" sz="1800" dirty="0"/>
              <a:t>Si is denoted as stock ,</a:t>
            </a:r>
            <a:r>
              <a:rPr lang="en-AU" sz="1800" dirty="0" err="1"/>
              <a:t>si</a:t>
            </a:r>
            <a:r>
              <a:rPr lang="en-AU" sz="1800" dirty="0"/>
              <a:t>=(11,12,21,22,31,32,41,42)</a:t>
            </a:r>
            <a:endParaRPr lang="en-AU" sz="1800" dirty="0">
              <a:effectLst/>
            </a:endParaRPr>
          </a:p>
          <a:p>
            <a:pPr marL="0" indent="0">
              <a:buNone/>
            </a:pPr>
            <a:r>
              <a:rPr lang="en-AU" sz="1600" b="1" i="0" u="none" strike="noStrike" baseline="0" dirty="0">
                <a:effectLst/>
              </a:rPr>
              <a:t>Z = 10s11 +5s12 +10s21 +5s22 +10s31 + 5s32 + 5s41+  10s42</a:t>
            </a:r>
            <a:endParaRPr lang="en-AU" sz="1600" b="1" dirty="0">
              <a:effectLst/>
            </a:endParaRPr>
          </a:p>
          <a:p>
            <a:pPr marL="0" indent="0">
              <a:buNone/>
            </a:pPr>
            <a:r>
              <a:rPr lang="en-AU" sz="1600" dirty="0"/>
              <a:t>Subject</a:t>
            </a:r>
            <a:r>
              <a:rPr lang="en-AU" sz="1600" baseline="0" dirty="0"/>
              <a:t> to:</a:t>
            </a:r>
            <a:endParaRPr lang="en-AU" sz="1200" dirty="0"/>
          </a:p>
          <a:p>
            <a:pPr marL="0" indent="0">
              <a:buNone/>
            </a:pPr>
            <a:r>
              <a:rPr lang="en-AU" sz="1600" b="1" dirty="0"/>
              <a:t>s11 +s12+s21+s22+s31+s32+s41+s42 = 100%                         </a:t>
            </a:r>
            <a:r>
              <a:rPr lang="en-AU" sz="1600" dirty="0"/>
              <a:t>( S</a:t>
            </a:r>
            <a:r>
              <a:rPr lang="en-IN" sz="1600" b="0" i="0" u="none" strike="noStrike" dirty="0">
                <a:effectLst/>
                <a:latin typeface="-webkit-standard"/>
              </a:rPr>
              <a:t>um of all investments should equal 100% or 1 of the portfolio)</a:t>
            </a:r>
            <a:endParaRPr lang="en-AU" sz="1600" dirty="0"/>
          </a:p>
          <a:p>
            <a:pPr marL="0" indent="0">
              <a:buNone/>
            </a:pPr>
            <a:r>
              <a:rPr lang="en-AU" sz="1600" b="1" dirty="0"/>
              <a:t>s11+s12 &lt;= 15%                                                                                       </a:t>
            </a:r>
            <a:r>
              <a:rPr lang="en-AU" sz="1600" dirty="0"/>
              <a:t>(High Risk assets should be less Than 15%)</a:t>
            </a:r>
          </a:p>
          <a:p>
            <a:pPr marL="0" indent="0">
              <a:buNone/>
            </a:pPr>
            <a:r>
              <a:rPr lang="en-AU" sz="1600" b="1" baseline="0" dirty="0"/>
              <a:t>s31+s41+s42 &gt;= </a:t>
            </a:r>
            <a:r>
              <a:rPr lang="en-AU" sz="1600" b="1" dirty="0"/>
              <a:t>s21+s22+s32</a:t>
            </a:r>
            <a:r>
              <a:rPr lang="en-AU" sz="1600" b="1" baseline="0" dirty="0"/>
              <a:t>                                                          </a:t>
            </a:r>
            <a:r>
              <a:rPr lang="en-AU" sz="1600" baseline="0" dirty="0"/>
              <a:t>(Low risk stocks should be greater than Medium Risk stock(R2)                                        </a:t>
            </a:r>
          </a:p>
          <a:p>
            <a:pPr marL="0" indent="0">
              <a:buNone/>
            </a:pPr>
            <a:r>
              <a:rPr lang="en-AU" sz="1600" b="1" baseline="0" dirty="0"/>
              <a:t>s11+ s12 &gt;=15%                                                                                      </a:t>
            </a:r>
            <a:r>
              <a:rPr lang="en-AU" sz="1600" dirty="0"/>
              <a:t>( Health care </a:t>
            </a:r>
            <a:r>
              <a:rPr lang="en-IN" sz="1600" b="0" i="0" u="none" strike="noStrike" dirty="0">
                <a:solidFill>
                  <a:srgbClr val="000000"/>
                </a:solidFill>
                <a:effectLst/>
                <a:latin typeface="-webkit-standard"/>
              </a:rPr>
              <a:t>sector must have a minimum investment of 15% )</a:t>
            </a:r>
            <a:endParaRPr lang="en-AU" sz="1600" baseline="0" dirty="0"/>
          </a:p>
          <a:p>
            <a:pPr marL="0" indent="0">
              <a:buNone/>
            </a:pPr>
            <a:r>
              <a:rPr lang="en-AU" sz="1600" b="1" baseline="0" dirty="0"/>
              <a:t>s21+s22&gt;=15%                                                                                         </a:t>
            </a:r>
            <a:r>
              <a:rPr lang="en-AU" sz="1600" baseline="0" dirty="0"/>
              <a:t>( Technology sector must have a minimum of 15% invested )</a:t>
            </a:r>
          </a:p>
          <a:p>
            <a:pPr marL="0" indent="0">
              <a:buNone/>
            </a:pPr>
            <a:r>
              <a:rPr lang="en-AU" sz="1600" b="1" baseline="0" dirty="0"/>
              <a:t>s31+s32&gt;=15%                                                                                         </a:t>
            </a:r>
            <a:r>
              <a:rPr lang="en-AU" sz="1600" baseline="0" dirty="0"/>
              <a:t>(Communication Service sector must have a minimum of 15% invested)</a:t>
            </a:r>
          </a:p>
          <a:p>
            <a:pPr marL="0" indent="0">
              <a:buNone/>
            </a:pPr>
            <a:r>
              <a:rPr lang="en-AU" sz="1600" b="1" baseline="0" dirty="0"/>
              <a:t>s41+s42&gt;=20%                                                                                         </a:t>
            </a:r>
            <a:r>
              <a:rPr lang="en-AU" sz="1600" baseline="0" dirty="0"/>
              <a:t>(Finance sector must have a minimum of  20% invested)</a:t>
            </a:r>
          </a:p>
          <a:p>
            <a:pPr marL="0" indent="0">
              <a:buNone/>
            </a:pPr>
            <a:r>
              <a:rPr lang="en-AU" sz="1600" b="1" baseline="0" dirty="0"/>
              <a:t>s11&gt;=5%, s12&gt;=5%,s21&gt;=5%,s22&gt;=5%,s31&gt;=5%,s32&gt;=5%,s41&gt;=5%,s42&gt;=5% </a:t>
            </a:r>
            <a:r>
              <a:rPr lang="en-AU" sz="1600" baseline="0" dirty="0"/>
              <a:t>     (minimum investment in each Stock should be 5%)</a:t>
            </a:r>
          </a:p>
          <a:p>
            <a:pPr marL="0" indent="0">
              <a:buNone/>
            </a:pPr>
            <a:r>
              <a:rPr lang="en-AU" sz="1600" b="1" baseline="0" dirty="0"/>
              <a:t>s11,s21,s21,s22,s31,s32,s41,42 &gt;= 0                                             </a:t>
            </a:r>
            <a:r>
              <a:rPr lang="en-AU" sz="1600" baseline="0" dirty="0"/>
              <a:t>(Non -negative Constrain )</a:t>
            </a:r>
          </a:p>
          <a:p>
            <a:endParaRPr lang="en-US" sz="1200" dirty="0"/>
          </a:p>
        </p:txBody>
      </p:sp>
    </p:spTree>
    <p:extLst>
      <p:ext uri="{BB962C8B-B14F-4D97-AF65-F5344CB8AC3E}">
        <p14:creationId xmlns:p14="http://schemas.microsoft.com/office/powerpoint/2010/main" val="3390242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4156D5-8962-96F7-3E13-DCD5F5061929}"/>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 Sensitivity Analysis</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B9BE4FF-7249-F92D-D353-A5A39E3D35BC}"/>
              </a:ext>
            </a:extLst>
          </p:cNvPr>
          <p:cNvSpPr>
            <a:spLocks noGrp="1"/>
          </p:cNvSpPr>
          <p:nvPr>
            <p:ph idx="1"/>
          </p:nvPr>
        </p:nvSpPr>
        <p:spPr>
          <a:xfrm>
            <a:off x="1026971" y="3054563"/>
            <a:ext cx="3620333" cy="3209077"/>
          </a:xfrm>
        </p:spPr>
        <p:txBody>
          <a:bodyPr>
            <a:noAutofit/>
          </a:bodyPr>
          <a:lstStyle/>
          <a:p>
            <a:pPr algn="l">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Interpretation of Variable Cells (Objective Coefficients)</a:t>
            </a:r>
          </a:p>
          <a:p>
            <a:pPr algn="l">
              <a:buNone/>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Each row in the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variable cell section</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of the sensitivity report shows how the optimal solution will behave if the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objective coefficient</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(return per unit of investment) for a particular investment changes.</a:t>
            </a:r>
          </a:p>
          <a:p>
            <a:pPr algn="l">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For example, if the objective coefficient for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ASX:PME</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increases or decreases within a certain range (called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Allowable Increase</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and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Allowable Decrease</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the current optimal investment decision remains unchanged.</a:t>
            </a:r>
          </a:p>
          <a:p>
            <a:pPr algn="l">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If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Allowable Increase</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is extremely large (like 1E+30), it indicates that the objective coefficient can increase infinitely without affecting the current optimal solution—meaning the investment is already at its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optimal point</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For the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Allowable Decrease</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if it is, say, 0.020, it means the objective coefficient can decrease by up to 0.020 without changing the optimal solution. If it decreases more than that, re-run the Solver.</a:t>
            </a:r>
          </a:p>
          <a:p>
            <a:pPr marL="0" indent="0">
              <a:buNone/>
            </a:pPr>
            <a:endParaRPr lang="en-US" sz="1100" dirty="0">
              <a:latin typeface="Times New Roman" panose="02020603050405020304" pitchFamily="18" charset="0"/>
              <a:cs typeface="Times New Roman" panose="02020603050405020304" pitchFamily="18" charset="0"/>
            </a:endParaRPr>
          </a:p>
        </p:txBody>
      </p:sp>
      <p:pic>
        <p:nvPicPr>
          <p:cNvPr id="9" name="Picture 8" descr="A screenshot of a computer&#10;&#10;AI-generated content may be incorrect.">
            <a:extLst>
              <a:ext uri="{FF2B5EF4-FFF2-40B4-BE49-F238E27FC236}">
                <a16:creationId xmlns:a16="http://schemas.microsoft.com/office/drawing/2014/main" id="{6FFDA21D-60E7-F1C6-24D6-C241FE2471C3}"/>
              </a:ext>
            </a:extLst>
          </p:cNvPr>
          <p:cNvPicPr>
            <a:picLocks noChangeAspect="1"/>
          </p:cNvPicPr>
          <p:nvPr/>
        </p:nvPicPr>
        <p:blipFill>
          <a:blip r:embed="rId3"/>
          <a:stretch>
            <a:fillRect/>
          </a:stretch>
        </p:blipFill>
        <p:spPr>
          <a:xfrm>
            <a:off x="4702780" y="2996439"/>
            <a:ext cx="6917944" cy="2333764"/>
          </a:xfrm>
          <a:prstGeom prst="rect">
            <a:avLst/>
          </a:prstGeom>
        </p:spPr>
      </p:pic>
      <p:sp>
        <p:nvSpPr>
          <p:cNvPr id="11" name="Process 10">
            <a:extLst>
              <a:ext uri="{FF2B5EF4-FFF2-40B4-BE49-F238E27FC236}">
                <a16:creationId xmlns:a16="http://schemas.microsoft.com/office/drawing/2014/main" id="{1714FEC1-9BE2-AAE1-0AF4-00BB4E832556}"/>
              </a:ext>
            </a:extLst>
          </p:cNvPr>
          <p:cNvSpPr/>
          <p:nvPr/>
        </p:nvSpPr>
        <p:spPr>
          <a:xfrm rot="16200000">
            <a:off x="9723687" y="3491846"/>
            <a:ext cx="1752971" cy="2152054"/>
          </a:xfrm>
          <a:prstGeom prst="flowChartProcess">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rgbClr val="FF0000"/>
              </a:solidFill>
            </a:endParaRPr>
          </a:p>
        </p:txBody>
      </p:sp>
    </p:spTree>
    <p:extLst>
      <p:ext uri="{BB962C8B-B14F-4D97-AF65-F5344CB8AC3E}">
        <p14:creationId xmlns:p14="http://schemas.microsoft.com/office/powerpoint/2010/main" val="212383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453CB9-2F25-9E82-840C-3100E7E50CE0}"/>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0FFCC166-4CC4-AA5D-6918-B80FAFAC0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B60CC3-6759-33CB-25CA-3B36F95F7049}"/>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 Sensitivity Analysis</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FC4507B5-19F6-11C8-E576-A931E324D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35845A4-AF48-67EA-98EF-DE6A0B809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59BA535D-9A31-6A96-0B85-AC4C1E46B8E7}"/>
              </a:ext>
            </a:extLst>
          </p:cNvPr>
          <p:cNvSpPr>
            <a:spLocks noGrp="1"/>
          </p:cNvSpPr>
          <p:nvPr>
            <p:ph idx="1"/>
          </p:nvPr>
        </p:nvSpPr>
        <p:spPr>
          <a:xfrm>
            <a:off x="332909" y="2996439"/>
            <a:ext cx="4567337" cy="3209077"/>
          </a:xfrm>
        </p:spPr>
        <p:txBody>
          <a:bodyPr>
            <a:noAutofit/>
          </a:bodyPr>
          <a:lstStyle/>
          <a:p>
            <a:pPr marL="342900" lvl="0" indent="-342900" algn="just">
              <a:lnSpc>
                <a:spcPct val="115000"/>
              </a:lnSpc>
              <a:spcAft>
                <a:spcPts val="800"/>
              </a:spcAft>
              <a:buSzPts val="1000"/>
              <a:buFont typeface="Symbol" pitchFamily="2" charset="2"/>
              <a:buChar char=""/>
              <a:tabLst>
                <a:tab pos="457200" algn="l"/>
              </a:tabLst>
            </a:pPr>
            <a:r>
              <a:rPr lang="en-IN" sz="105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Reduced Costs:</a:t>
            </a:r>
            <a:r>
              <a:rPr lang="en-IN" sz="105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report provides reduced costs for the decision variables, indicating how much an asset’s return would need to improve to get more than its current allocation (for those at minimum):</a:t>
            </a:r>
            <a:endParaRPr lang="en-IN" sz="105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sz="105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Assets at their 5% floor (e.g. PGC, COS) have </a:t>
            </a:r>
            <a:r>
              <a:rPr lang="en-IN" sz="105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reduced costs</a:t>
            </a:r>
            <a:r>
              <a:rPr lang="en-IN" sz="105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equal to the amount their return falls short of the portfolio’s marginal return. For instance, if Cosol’s expected return were higher by any percentage, the model would allocate more to COS above 5%. Conversely, assets already above minimum (SUN, TLS, PME, XRO) have zero reduced cost – they are already included to the extent justified by their returns.</a:t>
            </a:r>
            <a:endParaRPr lang="en-IN" sz="105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sz="105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Because every asset is included (none at zero weight), the reduced costs in this model mainly reflect the cost of increasing an asset’s weight from the minimum to a higher value. E.g., to increase CBA from 5% to 6%, its return would need to increase enough to overcome the fact that it’s currently constrained by lower attractiveness relative to SUN or others.</a:t>
            </a:r>
            <a:endParaRPr lang="en-IN" sz="105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descr="A screenshot of a computer&#10;&#10;AI-generated content may be incorrect.">
            <a:extLst>
              <a:ext uri="{FF2B5EF4-FFF2-40B4-BE49-F238E27FC236}">
                <a16:creationId xmlns:a16="http://schemas.microsoft.com/office/drawing/2014/main" id="{91A0B7F4-A3CA-24F1-5C93-D1E55EC92506}"/>
              </a:ext>
            </a:extLst>
          </p:cNvPr>
          <p:cNvPicPr>
            <a:picLocks noChangeAspect="1"/>
          </p:cNvPicPr>
          <p:nvPr/>
        </p:nvPicPr>
        <p:blipFill>
          <a:blip r:embed="rId2"/>
          <a:stretch>
            <a:fillRect/>
          </a:stretch>
        </p:blipFill>
        <p:spPr>
          <a:xfrm>
            <a:off x="5799091" y="3429000"/>
            <a:ext cx="5898322" cy="2013333"/>
          </a:xfrm>
          <a:prstGeom prst="rect">
            <a:avLst/>
          </a:prstGeom>
        </p:spPr>
      </p:pic>
      <p:sp>
        <p:nvSpPr>
          <p:cNvPr id="5" name="Process 4">
            <a:extLst>
              <a:ext uri="{FF2B5EF4-FFF2-40B4-BE49-F238E27FC236}">
                <a16:creationId xmlns:a16="http://schemas.microsoft.com/office/drawing/2014/main" id="{8E0610F8-0463-CB4F-19CB-60C6F92F4CFA}"/>
              </a:ext>
            </a:extLst>
          </p:cNvPr>
          <p:cNvSpPr/>
          <p:nvPr/>
        </p:nvSpPr>
        <p:spPr>
          <a:xfrm rot="16200000">
            <a:off x="8972229" y="4477344"/>
            <a:ext cx="1357099" cy="594911"/>
          </a:xfrm>
          <a:prstGeom prst="flowChartProcess">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rgbClr val="FF0000"/>
              </a:solidFill>
            </a:endParaRPr>
          </a:p>
        </p:txBody>
      </p:sp>
    </p:spTree>
    <p:extLst>
      <p:ext uri="{BB962C8B-B14F-4D97-AF65-F5344CB8AC3E}">
        <p14:creationId xmlns:p14="http://schemas.microsoft.com/office/powerpoint/2010/main" val="1501300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C98CD2-36D6-AFAC-5D76-AB6E74123CA4}"/>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9C9A7AE8-780B-5901-A7C2-889038CAA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907FB2-C69F-A052-49CB-B136D3EC4E39}"/>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 Sensitivity Analysis</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5AA67B28-723D-66FD-1D6E-72C657741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71ADC88-2BF3-8DF1-D3C9-239F319D2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72E3C7B-A285-9371-8B86-BBB648629A51}"/>
              </a:ext>
            </a:extLst>
          </p:cNvPr>
          <p:cNvSpPr>
            <a:spLocks noGrp="1"/>
          </p:cNvSpPr>
          <p:nvPr>
            <p:ph idx="1"/>
          </p:nvPr>
        </p:nvSpPr>
        <p:spPr>
          <a:xfrm>
            <a:off x="448283" y="2965107"/>
            <a:ext cx="4824361" cy="3020057"/>
          </a:xfrm>
        </p:spPr>
        <p:txBody>
          <a:bodyPr>
            <a:noAutofit/>
          </a:bodyPr>
          <a:lstStyle/>
          <a:p>
            <a:pPr algn="l">
              <a:lnSpc>
                <a:spcPct val="100000"/>
              </a:lnSpc>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Interpretation of Constraints (Sensitivity Report for Constraints)</a:t>
            </a:r>
          </a:p>
          <a:p>
            <a:pPr algn="l">
              <a:lnSpc>
                <a:spcPct val="100000"/>
              </a:lnSpc>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1. Binding vs. Non-Binding Constraints: </a:t>
            </a:r>
          </a:p>
          <a:p>
            <a:pPr algn="l">
              <a:lnSpc>
                <a:spcPct val="100000"/>
              </a:lnSpc>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A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binding constraint</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is one where the available resource is fully used—no slack.</a:t>
            </a:r>
          </a:p>
          <a:p>
            <a:pPr marL="742950" lvl="1" indent="-285750" algn="l">
              <a:lnSpc>
                <a:spcPct val="100000"/>
              </a:lnSpc>
              <a:buFont typeface="Arial" panose="020B0604020202020204" pitchFamily="34" charset="0"/>
              <a:buChar char="•"/>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Shadow Price &gt; 0</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indicates a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binding constraint</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lnSpc>
                <a:spcPct val="100000"/>
              </a:lnSpc>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A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non-binding constraint</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means there is still some unused resource (slack or surplus).</a:t>
            </a:r>
          </a:p>
          <a:p>
            <a:pPr marL="742950" lvl="1" indent="-285750" algn="l">
              <a:lnSpc>
                <a:spcPct val="100000"/>
              </a:lnSpc>
              <a:buFont typeface="Arial" panose="020B0604020202020204" pitchFamily="34" charset="0"/>
              <a:buChar char="•"/>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Shadow Price = 0</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indicates a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non-binding constraint</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lnSpc>
                <a:spcPct val="100000"/>
              </a:lnSpc>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2. Slack and Surplus</a:t>
            </a:r>
          </a:p>
          <a:p>
            <a:pPr algn="l">
              <a:lnSpc>
                <a:spcPct val="100000"/>
              </a:lnSpc>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For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 constraints</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any unused capacity is shown as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Slack</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lnSpc>
                <a:spcPct val="100000"/>
              </a:lnSpc>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For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 constraints</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the extra (unused) requirement is shown as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Surplus</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lnSpc>
                <a:spcPct val="100000"/>
              </a:lnSpc>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3. Shadow Price: </a:t>
            </a:r>
          </a:p>
          <a:p>
            <a:pPr algn="l">
              <a:lnSpc>
                <a:spcPct val="100000"/>
              </a:lnSpc>
              <a:buFont typeface="Arial" panose="020B0604020202020204" pitchFamily="34" charset="0"/>
              <a:buChar char="•"/>
            </a:pPr>
            <a:r>
              <a:rPr lang="en-IN" sz="1000" b="0" i="0" u="none" strike="noStrike" dirty="0">
                <a:solidFill>
                  <a:srgbClr val="000000"/>
                </a:solidFill>
                <a:effectLst/>
                <a:latin typeface="Times New Roman" panose="02020603050405020304" pitchFamily="18" charset="0"/>
                <a:cs typeface="Times New Roman" panose="02020603050405020304" pitchFamily="18" charset="0"/>
              </a:rPr>
              <a:t>The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Shadow Price</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represents how much the objective function (total return) would change if the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Right-Hand Side (RHS)</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of a constraint increases by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one unit</a:t>
            </a:r>
          </a:p>
          <a:p>
            <a:pPr algn="l">
              <a:lnSpc>
                <a:spcPct val="100000"/>
              </a:lnSpc>
              <a:buFont typeface="Arial" panose="020B0604020202020204" pitchFamily="34" charset="0"/>
              <a:buChar char="•"/>
            </a:pPr>
            <a:r>
              <a:rPr lang="en-IN" sz="1000" b="1" dirty="0">
                <a:solidFill>
                  <a:srgbClr val="000000"/>
                </a:solidFill>
                <a:latin typeface="Times New Roman" panose="02020603050405020304" pitchFamily="18" charset="0"/>
                <a:cs typeface="Times New Roman" panose="02020603050405020304" pitchFamily="18" charset="0"/>
              </a:rPr>
              <a:t>A Negative shadow price  </a:t>
            </a:r>
            <a:r>
              <a:rPr lang="en-IN" sz="1000" dirty="0">
                <a:solidFill>
                  <a:srgbClr val="000000"/>
                </a:solidFill>
                <a:latin typeface="Times New Roman" panose="02020603050405020304" pitchFamily="18" charset="0"/>
                <a:cs typeface="Times New Roman" panose="02020603050405020304" pitchFamily="18" charset="0"/>
              </a:rPr>
              <a:t>increase in RHS will Decrease the optimal solution. </a:t>
            </a:r>
          </a:p>
          <a:p>
            <a:pPr>
              <a:lnSpc>
                <a:spcPct val="100000"/>
              </a:lnSpc>
            </a:pP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Non-binding constraints (like the Financials min, which wasn’t tight) have zero shadow price – loosening or tightening them slightly would not affect the solution.</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p>
            <a:pPr algn="l">
              <a:lnSpc>
                <a:spcPct val="100000"/>
              </a:lnSpc>
              <a:buFont typeface="Arial" panose="020B0604020202020204" pitchFamily="34" charset="0"/>
              <a:buChar char="•"/>
            </a:pPr>
            <a:endParaRPr lang="en-IN" sz="9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700" b="0" i="0" u="none" strike="noStrike" dirty="0">
              <a:solidFill>
                <a:srgbClr val="000000"/>
              </a:solidFill>
              <a:effectLst/>
              <a:latin typeface="Times New Roman" panose="02020603050405020304" pitchFamily="18" charset="0"/>
              <a:cs typeface="Times New Roman" panose="02020603050405020304" pitchFamily="18" charset="0"/>
            </a:endParaRPr>
          </a:p>
        </p:txBody>
      </p:sp>
      <p:pic>
        <p:nvPicPr>
          <p:cNvPr id="4" name="Picture 3" descr="A table of numbers and symbols&#10;&#10;AI-generated content may be incorrect.">
            <a:extLst>
              <a:ext uri="{FF2B5EF4-FFF2-40B4-BE49-F238E27FC236}">
                <a16:creationId xmlns:a16="http://schemas.microsoft.com/office/drawing/2014/main" id="{3390EF65-4B31-F357-BAE4-ACE45CFDDAE4}"/>
              </a:ext>
            </a:extLst>
          </p:cNvPr>
          <p:cNvPicPr>
            <a:picLocks noChangeAspect="1"/>
          </p:cNvPicPr>
          <p:nvPr/>
        </p:nvPicPr>
        <p:blipFill>
          <a:blip r:embed="rId2"/>
          <a:stretch>
            <a:fillRect/>
          </a:stretch>
        </p:blipFill>
        <p:spPr>
          <a:xfrm>
            <a:off x="6604102" y="2358675"/>
            <a:ext cx="5012356" cy="2225458"/>
          </a:xfrm>
          <a:prstGeom prst="rect">
            <a:avLst/>
          </a:prstGeom>
        </p:spPr>
      </p:pic>
      <p:pic>
        <p:nvPicPr>
          <p:cNvPr id="10" name="Picture 9" descr="A table with numbers and text&#10;&#10;AI-generated content may be incorrect.">
            <a:extLst>
              <a:ext uri="{FF2B5EF4-FFF2-40B4-BE49-F238E27FC236}">
                <a16:creationId xmlns:a16="http://schemas.microsoft.com/office/drawing/2014/main" id="{8E995532-3A6F-C26C-72A0-F969697FE354}"/>
              </a:ext>
            </a:extLst>
          </p:cNvPr>
          <p:cNvPicPr>
            <a:picLocks noChangeAspect="1"/>
          </p:cNvPicPr>
          <p:nvPr/>
        </p:nvPicPr>
        <p:blipFill>
          <a:blip r:embed="rId3"/>
          <a:stretch>
            <a:fillRect/>
          </a:stretch>
        </p:blipFill>
        <p:spPr>
          <a:xfrm>
            <a:off x="5388417" y="4453705"/>
            <a:ext cx="5012356" cy="2304006"/>
          </a:xfrm>
          <a:prstGeom prst="rect">
            <a:avLst/>
          </a:prstGeom>
        </p:spPr>
      </p:pic>
      <p:sp>
        <p:nvSpPr>
          <p:cNvPr id="6" name="Process 5">
            <a:extLst>
              <a:ext uri="{FF2B5EF4-FFF2-40B4-BE49-F238E27FC236}">
                <a16:creationId xmlns:a16="http://schemas.microsoft.com/office/drawing/2014/main" id="{D0264F3C-437D-F72A-85BA-1BCBCC3562ED}"/>
              </a:ext>
            </a:extLst>
          </p:cNvPr>
          <p:cNvSpPr/>
          <p:nvPr/>
        </p:nvSpPr>
        <p:spPr>
          <a:xfrm>
            <a:off x="9581301" y="2512194"/>
            <a:ext cx="525225" cy="4245517"/>
          </a:xfrm>
          <a:prstGeom prst="flowChartProcess">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a:ln w="22225">
                <a:solidFill>
                  <a:schemeClr val="accent2"/>
                </a:solidFill>
                <a:prstDash val="solid"/>
              </a:ln>
              <a:solidFill>
                <a:srgbClr val="FF0000"/>
              </a:solidFill>
            </a:endParaRPr>
          </a:p>
        </p:txBody>
      </p:sp>
    </p:spTree>
    <p:extLst>
      <p:ext uri="{BB962C8B-B14F-4D97-AF65-F5344CB8AC3E}">
        <p14:creationId xmlns:p14="http://schemas.microsoft.com/office/powerpoint/2010/main" val="4108871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4EA3E-211D-CC16-CE75-A3B1B24E6AC6}"/>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5759A8BF-773A-EFA7-18D9-F9FCC6047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71643-0CF4-EB85-BF7C-873B26829348}"/>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 Sensitivity Analysis</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B4FC6F0D-28C5-0B3F-A244-51A9072911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92D44AA-8142-A8DD-DB32-DFBF5DF93F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F0A250CB-C89B-A4AF-BD7A-033F0B2290C2}"/>
              </a:ext>
            </a:extLst>
          </p:cNvPr>
          <p:cNvSpPr>
            <a:spLocks noGrp="1"/>
          </p:cNvSpPr>
          <p:nvPr>
            <p:ph idx="1"/>
          </p:nvPr>
        </p:nvSpPr>
        <p:spPr>
          <a:xfrm>
            <a:off x="448283" y="2965107"/>
            <a:ext cx="4824361" cy="3020057"/>
          </a:xfrm>
        </p:spPr>
        <p:txBody>
          <a:bodyPr>
            <a:noAutofit/>
          </a:bodyPr>
          <a:lstStyle/>
          <a:p>
            <a:pPr>
              <a:spcAft>
                <a:spcPts val="800"/>
              </a:spcAft>
              <a:buNone/>
            </a:pPr>
            <a:r>
              <a:rPr lang="en-IN" sz="1000" i="1" kern="0" dirty="0">
                <a:effectLst/>
                <a:latin typeface="Times New Roman" panose="02020603050405020304" pitchFamily="18" charset="0"/>
                <a:ea typeface="Times New Roman" panose="02020603050405020304" pitchFamily="18" charset="0"/>
                <a:cs typeface="Times New Roman" panose="02020603050405020304" pitchFamily="18" charset="0"/>
              </a:rPr>
              <a:t>Excel Solver Sensitivity Report for the LP model. It lists each constraint with its shadow price illuminating how changes would affect the optimal solution.</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800"/>
              </a:spcAft>
              <a:buSzPts val="1000"/>
              <a:buFont typeface="Symbol" pitchFamily="2" charset="2"/>
              <a:buChar char=""/>
              <a:tabLst>
                <a:tab pos="457200" algn="l"/>
              </a:tabLst>
            </a:pPr>
            <a:r>
              <a:rPr lang="en-IN" sz="1000" b="1" kern="0" dirty="0">
                <a:effectLst/>
                <a:latin typeface="Times New Roman" panose="02020603050405020304" pitchFamily="18" charset="0"/>
                <a:ea typeface="Times New Roman" panose="02020603050405020304" pitchFamily="18" charset="0"/>
                <a:cs typeface="Times New Roman" panose="02020603050405020304" pitchFamily="18" charset="0"/>
              </a:rPr>
              <a:t>Binding Constraints:</a:t>
            </a: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 Several constraints are </a:t>
            </a:r>
            <a:r>
              <a:rPr lang="en-IN" sz="1000" i="1" kern="0" dirty="0">
                <a:effectLst/>
                <a:latin typeface="Times New Roman" panose="02020603050405020304" pitchFamily="18" charset="0"/>
                <a:ea typeface="Times New Roman" panose="02020603050405020304" pitchFamily="18" charset="0"/>
                <a:cs typeface="Times New Roman" panose="02020603050405020304" pitchFamily="18" charset="0"/>
              </a:rPr>
              <a:t>binding</a:t>
            </a: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 (active at equality) in the LP solution, meaning they directly restrict the objective:</a:t>
            </a:r>
            <a:endParaRPr lang="en-IN" sz="1000" kern="100" dirty="0">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spcAft>
                <a:spcPts val="800"/>
              </a:spcAft>
              <a:buSzPts val="1000"/>
              <a:buFont typeface="Symbol" pitchFamily="2" charset="2"/>
              <a:buChar char=""/>
              <a:tabLst>
                <a:tab pos="457200" algn="l"/>
              </a:tabLst>
            </a:pP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sz="1000" b="1" kern="0" dirty="0">
                <a:effectLst/>
                <a:latin typeface="Times New Roman" panose="02020603050405020304" pitchFamily="18" charset="0"/>
                <a:ea typeface="Times New Roman" panose="02020603050405020304" pitchFamily="18" charset="0"/>
                <a:cs typeface="Times New Roman" panose="02020603050405020304" pitchFamily="18" charset="0"/>
              </a:rPr>
              <a:t>High-Risk cap (15%)</a:t>
            </a: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 is binding – R3 assets total exactly 15%. This indicates the solution would have liked to invest more in high-risk stocks (if profitable) but was stopped by this cap.</a:t>
            </a:r>
            <a:endParaRPr lang="en-IN" sz="1000" kern="100" dirty="0">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spcAft>
                <a:spcPts val="800"/>
              </a:spcAft>
              <a:buSzPts val="1000"/>
              <a:buFont typeface="Symbol" pitchFamily="2" charset="2"/>
              <a:buChar char=""/>
              <a:tabLst>
                <a:tab pos="457200" algn="l"/>
              </a:tabLst>
            </a:pP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All </a:t>
            </a:r>
            <a:r>
              <a:rPr lang="en-IN" sz="1000" b="1" kern="0" dirty="0">
                <a:effectLst/>
                <a:latin typeface="Times New Roman" panose="02020603050405020304" pitchFamily="18" charset="0"/>
                <a:ea typeface="Times New Roman" panose="02020603050405020304" pitchFamily="18" charset="0"/>
                <a:cs typeface="Times New Roman" panose="02020603050405020304" pitchFamily="18" charset="0"/>
              </a:rPr>
              <a:t>sector minimum constraints</a:t>
            </a: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 for S1, S2, S3 (15% each) and S4 (20%) are binding (each of those sectors ended up at exactly the minimum required allocation). This reveals the model only invested the forced minimum in Health, Tech, and Comm sectors; it would have allocated even less to those sectors if allowed, preferring to put more into Financials (which exceeds its 20% min). The Financials sector ended at 55%, well above its 20% minimum (not binding).</a:t>
            </a:r>
            <a:endParaRPr lang="en-IN" sz="1000" kern="100" dirty="0">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spcAft>
                <a:spcPts val="800"/>
              </a:spcAft>
              <a:buSzPts val="1000"/>
              <a:buFont typeface="Symbol" pitchFamily="2" charset="2"/>
              <a:buChar char=""/>
              <a:tabLst>
                <a:tab pos="457200" algn="l"/>
              </a:tabLst>
            </a:pP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sz="1000" b="1" kern="0" dirty="0">
                <a:effectLst/>
                <a:latin typeface="Times New Roman" panose="02020603050405020304" pitchFamily="18" charset="0"/>
                <a:ea typeface="Times New Roman" panose="02020603050405020304" pitchFamily="18" charset="0"/>
                <a:cs typeface="Times New Roman" panose="02020603050405020304" pitchFamily="18" charset="0"/>
              </a:rPr>
              <a:t>5% per-asset minimum</a:t>
            </a: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 is binding for four assets (PGC, COS, TPG, CBA each at 5%) . These stocks are at their lowest allowed allocation – implying they were the least attractive in the optimal mix (the solver would reduce them further if it could).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descr="A table of numbers and symbols&#10;&#10;AI-generated content may be incorrect.">
            <a:extLst>
              <a:ext uri="{FF2B5EF4-FFF2-40B4-BE49-F238E27FC236}">
                <a16:creationId xmlns:a16="http://schemas.microsoft.com/office/drawing/2014/main" id="{107F236A-DD12-B1E8-841F-FE61D214492F}"/>
              </a:ext>
            </a:extLst>
          </p:cNvPr>
          <p:cNvPicPr>
            <a:picLocks noChangeAspect="1"/>
          </p:cNvPicPr>
          <p:nvPr/>
        </p:nvPicPr>
        <p:blipFill>
          <a:blip r:embed="rId2"/>
          <a:stretch>
            <a:fillRect/>
          </a:stretch>
        </p:blipFill>
        <p:spPr>
          <a:xfrm>
            <a:off x="6604102" y="2358675"/>
            <a:ext cx="5012356" cy="2225458"/>
          </a:xfrm>
          <a:prstGeom prst="rect">
            <a:avLst/>
          </a:prstGeom>
        </p:spPr>
      </p:pic>
      <p:pic>
        <p:nvPicPr>
          <p:cNvPr id="10" name="Picture 9" descr="A table with numbers and text&#10;&#10;AI-generated content may be incorrect.">
            <a:extLst>
              <a:ext uri="{FF2B5EF4-FFF2-40B4-BE49-F238E27FC236}">
                <a16:creationId xmlns:a16="http://schemas.microsoft.com/office/drawing/2014/main" id="{290D567C-BA5E-3DBD-4387-81A3F5B7C07F}"/>
              </a:ext>
            </a:extLst>
          </p:cNvPr>
          <p:cNvPicPr>
            <a:picLocks noChangeAspect="1"/>
          </p:cNvPicPr>
          <p:nvPr/>
        </p:nvPicPr>
        <p:blipFill>
          <a:blip r:embed="rId3"/>
          <a:stretch>
            <a:fillRect/>
          </a:stretch>
        </p:blipFill>
        <p:spPr>
          <a:xfrm>
            <a:off x="5388417" y="4453705"/>
            <a:ext cx="5012356" cy="2304006"/>
          </a:xfrm>
          <a:prstGeom prst="rect">
            <a:avLst/>
          </a:prstGeom>
        </p:spPr>
      </p:pic>
      <p:sp>
        <p:nvSpPr>
          <p:cNvPr id="6" name="Process 5">
            <a:extLst>
              <a:ext uri="{FF2B5EF4-FFF2-40B4-BE49-F238E27FC236}">
                <a16:creationId xmlns:a16="http://schemas.microsoft.com/office/drawing/2014/main" id="{971C3A55-2970-1390-BD6C-BB5C95CA8503}"/>
              </a:ext>
            </a:extLst>
          </p:cNvPr>
          <p:cNvSpPr/>
          <p:nvPr/>
        </p:nvSpPr>
        <p:spPr>
          <a:xfrm>
            <a:off x="9581301" y="2512194"/>
            <a:ext cx="525225" cy="4245517"/>
          </a:xfrm>
          <a:prstGeom prst="flowChartProcess">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a:ln w="22225">
                <a:solidFill>
                  <a:schemeClr val="accent2"/>
                </a:solidFill>
                <a:prstDash val="solid"/>
              </a:ln>
              <a:solidFill>
                <a:srgbClr val="FF0000"/>
              </a:solidFill>
            </a:endParaRPr>
          </a:p>
        </p:txBody>
      </p:sp>
    </p:spTree>
    <p:extLst>
      <p:ext uri="{BB962C8B-B14F-4D97-AF65-F5344CB8AC3E}">
        <p14:creationId xmlns:p14="http://schemas.microsoft.com/office/powerpoint/2010/main" val="2579515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C4F253-D369-AEB7-21F2-CAE5B2D7B1CC}"/>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0182F723-BB74-85A9-D70A-0886F623D9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4CAD7-A7F2-FE43-FC09-600711B809B2}"/>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 Sensitivity Analysis</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9FF2A62E-F2FF-29B7-32C4-9F83B1C2D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81ADEE4-110A-25FF-A048-5B8FDB742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8954D64-C98A-55FB-BFB7-336CC9DA3DDE}"/>
              </a:ext>
            </a:extLst>
          </p:cNvPr>
          <p:cNvSpPr>
            <a:spLocks noGrp="1"/>
          </p:cNvSpPr>
          <p:nvPr>
            <p:ph idx="1"/>
          </p:nvPr>
        </p:nvSpPr>
        <p:spPr>
          <a:xfrm>
            <a:off x="291830" y="2986174"/>
            <a:ext cx="4074825" cy="2735033"/>
          </a:xfrm>
        </p:spPr>
        <p:txBody>
          <a:bodyPr>
            <a:noAutofit/>
          </a:bodyPr>
          <a:lstStyle/>
          <a:p>
            <a:pPr algn="just">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Example 1:</a:t>
            </a:r>
          </a:p>
          <a:p>
            <a:pPr algn="just">
              <a:buFont typeface="Arial" panose="020B0604020202020204" pitchFamily="34" charset="0"/>
              <a:buChar char="•"/>
            </a:pP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For example, </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constraint 1.</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“High-risk investments ≤ 0.15”</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IN" sz="1000" kern="0" dirty="0">
                <a:latin typeface="Times New Roman" panose="02020603050405020304" pitchFamily="18" charset="0"/>
                <a:ea typeface="Times New Roman" panose="02020603050405020304" pitchFamily="18" charset="0"/>
                <a:cs typeface="Times New Roman" panose="02020603050405020304" pitchFamily="18" charset="0"/>
              </a:rPr>
              <a:t>T</a:t>
            </a: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he portfolio’s return could increase – the model would invest a bit more in high-return high-risk assets. </a:t>
            </a:r>
            <a:r>
              <a:rPr lang="en-IN" sz="1000" i="1" kern="0" dirty="0">
                <a:effectLst/>
                <a:latin typeface="Times New Roman" panose="02020603050405020304" pitchFamily="18" charset="0"/>
                <a:ea typeface="Times New Roman" panose="02020603050405020304" pitchFamily="18" charset="0"/>
                <a:cs typeface="Times New Roman" panose="02020603050405020304" pitchFamily="18" charset="0"/>
              </a:rPr>
              <a:t>This reflects an appetite to take slightly more risk for gain, if permitted.</a:t>
            </a:r>
            <a:endParaRPr lang="en-IN" sz="1000" kern="1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sz="1000" b="0" i="0" u="none" strike="noStrike" dirty="0">
                <a:solidFill>
                  <a:srgbClr val="000000"/>
                </a:solidFill>
                <a:effectLst/>
                <a:latin typeface="Times New Roman" panose="02020603050405020304" pitchFamily="18" charset="0"/>
                <a:cs typeface="Times New Roman" panose="02020603050405020304" pitchFamily="18" charset="0"/>
              </a:rPr>
              <a:t>If the RHS increases by 0.01 (i.e., allowing more high-risk investments), the optimal solution (total return) increases by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0.02</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r>
              <a:rPr lang="en-IN" sz="1000" b="0" i="0" u="none" strike="noStrike" dirty="0">
                <a:solidFill>
                  <a:srgbClr val="000000"/>
                </a:solidFill>
                <a:effectLst/>
                <a:latin typeface="Times New Roman" panose="02020603050405020304" pitchFamily="18" charset="0"/>
                <a:cs typeface="Times New Roman" panose="02020603050405020304" pitchFamily="18" charset="0"/>
              </a:rPr>
              <a:t>This benefit continues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up to an allowable increase of 0.25</a:t>
            </a:r>
            <a:r>
              <a:rPr lang="en-IN" sz="1000" b="0" i="0" u="none" strike="noStrike" dirty="0">
                <a:solidFill>
                  <a:srgbClr val="000000"/>
                </a:solidFill>
                <a:effectLst/>
                <a:latin typeface="Times New Roman" panose="02020603050405020304" pitchFamily="18" charset="0"/>
                <a:cs typeface="Times New Roman" panose="02020603050405020304" pitchFamily="18" charset="0"/>
              </a:rPr>
              <a:t>, beyond which the shadow price might change or become invalid.</a:t>
            </a:r>
          </a:p>
          <a:p>
            <a:pPr marL="0" indent="0" algn="just">
              <a:buNone/>
            </a:pPr>
            <a:r>
              <a:rPr lang="en-IN" sz="1000" b="1" i="0" u="none" strike="noStrike" dirty="0">
                <a:solidFill>
                  <a:srgbClr val="000000"/>
                </a:solidFill>
                <a:effectLst/>
                <a:latin typeface="Times New Roman" panose="02020603050405020304" pitchFamily="18" charset="0"/>
                <a:cs typeface="Times New Roman" panose="02020603050405020304" pitchFamily="18" charset="0"/>
              </a:rPr>
              <a:t>Example 2:</a:t>
            </a:r>
          </a:p>
          <a:p>
            <a:pPr algn="just">
              <a:buNone/>
            </a:pP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For example,</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 </a:t>
            </a:r>
            <a:r>
              <a:rPr lang="en-IN" sz="1000" i="0" u="none" strike="noStrike" dirty="0">
                <a:solidFill>
                  <a:srgbClr val="000000"/>
                </a:solidFill>
                <a:effectLst/>
                <a:latin typeface="Times New Roman" panose="02020603050405020304" pitchFamily="18" charset="0"/>
                <a:cs typeface="Times New Roman" panose="02020603050405020304" pitchFamily="18" charset="0"/>
              </a:rPr>
              <a:t>An Increase in the Constrain of the </a:t>
            </a:r>
            <a:r>
              <a:rPr lang="en-IN" sz="1000" b="1" i="0" u="none" strike="noStrike" dirty="0">
                <a:solidFill>
                  <a:srgbClr val="000000"/>
                </a:solidFill>
                <a:effectLst/>
                <a:latin typeface="Times New Roman" panose="02020603050405020304" pitchFamily="18" charset="0"/>
                <a:cs typeface="Times New Roman" panose="02020603050405020304" pitchFamily="18" charset="0"/>
              </a:rPr>
              <a:t>Minimum investment in communication Sector of 15%. </a:t>
            </a:r>
          </a:p>
          <a:p>
            <a:pPr algn="just"/>
            <a:r>
              <a:rPr lang="en-IN" sz="1000" dirty="0">
                <a:solidFill>
                  <a:srgbClr val="000000"/>
                </a:solidFill>
                <a:latin typeface="Times New Roman" panose="02020603050405020304" pitchFamily="18" charset="0"/>
                <a:cs typeface="Times New Roman" panose="02020603050405020304" pitchFamily="18" charset="0"/>
              </a:rPr>
              <a:t>If the RHS increased by 0,01 can decrease the optimal value of -0.01. </a:t>
            </a:r>
          </a:p>
          <a:p>
            <a:pPr algn="just"/>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The binding sector minimum constraints have </a:t>
            </a:r>
            <a:r>
              <a:rPr lang="en-IN" sz="1000" b="1" kern="0" dirty="0">
                <a:effectLst/>
                <a:latin typeface="Times New Roman" panose="02020603050405020304" pitchFamily="18" charset="0"/>
                <a:ea typeface="Times New Roman" panose="02020603050405020304" pitchFamily="18" charset="0"/>
                <a:cs typeface="Times New Roman" panose="02020603050405020304" pitchFamily="18" charset="0"/>
              </a:rPr>
              <a:t>negative</a:t>
            </a:r>
            <a:r>
              <a:rPr lang="en-IN" sz="1000" kern="0" dirty="0">
                <a:effectLst/>
                <a:latin typeface="Times New Roman" panose="02020603050405020304" pitchFamily="18" charset="0"/>
                <a:ea typeface="Times New Roman" panose="02020603050405020304" pitchFamily="18" charset="0"/>
                <a:cs typeface="Times New Roman" panose="02020603050405020304" pitchFamily="18" charset="0"/>
              </a:rPr>
              <a:t> shadow prices. For example, the shadow price for the 15% IT sector constraint is negative, meaning if we could lower that requirement (invest less in IT), the optimal value would increase (we’d free capital to invest in better-performing sectors). Similarly, requiring 15% in Health and Comm had a small opportunity cost. </a:t>
            </a:r>
            <a:r>
              <a:rPr lang="en-IN" sz="1000" i="1" kern="0" dirty="0">
                <a:effectLst/>
                <a:latin typeface="Times New Roman" panose="02020603050405020304" pitchFamily="18" charset="0"/>
                <a:ea typeface="Times New Roman" panose="02020603050405020304" pitchFamily="18" charset="0"/>
                <a:cs typeface="Times New Roman" panose="02020603050405020304" pitchFamily="18" charset="0"/>
              </a:rPr>
              <a:t>In essence, these shadow prices quantify the return “penalty” of having to invest that 15% in those sectors.</a:t>
            </a:r>
            <a:endParaRPr lang="en-IN"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1"/>
            <a:endParaRPr lang="en-IN" sz="1000" i="0" u="none" strike="noStrike" dirty="0">
              <a:solidFill>
                <a:srgbClr val="000000"/>
              </a:solidFill>
              <a:effectLst/>
            </a:endParaRPr>
          </a:p>
          <a:p>
            <a:pPr algn="l">
              <a:buFont typeface="Arial" panose="020B0604020202020204" pitchFamily="34" charset="0"/>
              <a:buChar char="•"/>
            </a:pPr>
            <a:endParaRPr lang="en-IN" sz="1000" b="1" i="0" u="none" strike="noStrike" dirty="0">
              <a:solidFill>
                <a:srgbClr val="000000"/>
              </a:solidFill>
              <a:effectLst/>
            </a:endParaRPr>
          </a:p>
          <a:p>
            <a:pPr algn="l">
              <a:buFont typeface="Arial" panose="020B0604020202020204" pitchFamily="34" charset="0"/>
              <a:buChar char="•"/>
            </a:pPr>
            <a:endParaRPr lang="en-IN" sz="1000" b="1" dirty="0">
              <a:solidFill>
                <a:srgbClr val="00000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IN" sz="1000" b="0" i="0" u="none" strike="noStrike" dirty="0">
              <a:solidFill>
                <a:srgbClr val="000000"/>
              </a:solidFill>
              <a:effectLst/>
              <a:latin typeface="Times New Roman" panose="02020603050405020304" pitchFamily="18" charset="0"/>
              <a:cs typeface="Times New Roman" panose="02020603050405020304" pitchFamily="18" charset="0"/>
            </a:endParaRPr>
          </a:p>
        </p:txBody>
      </p:sp>
      <p:pic>
        <p:nvPicPr>
          <p:cNvPr id="4" name="Picture 3" descr="A table of numbers and symbols&#10;&#10;AI-generated content may be incorrect.">
            <a:extLst>
              <a:ext uri="{FF2B5EF4-FFF2-40B4-BE49-F238E27FC236}">
                <a16:creationId xmlns:a16="http://schemas.microsoft.com/office/drawing/2014/main" id="{CA074E8D-0BF1-F5EE-6425-849E13615348}"/>
              </a:ext>
            </a:extLst>
          </p:cNvPr>
          <p:cNvPicPr>
            <a:picLocks noChangeAspect="1"/>
          </p:cNvPicPr>
          <p:nvPr/>
        </p:nvPicPr>
        <p:blipFill>
          <a:blip r:embed="rId2"/>
          <a:stretch>
            <a:fillRect/>
          </a:stretch>
        </p:blipFill>
        <p:spPr>
          <a:xfrm>
            <a:off x="4658485" y="3244217"/>
            <a:ext cx="7289279" cy="3236400"/>
          </a:xfrm>
          <a:prstGeom prst="rect">
            <a:avLst/>
          </a:prstGeom>
        </p:spPr>
      </p:pic>
      <p:sp>
        <p:nvSpPr>
          <p:cNvPr id="6" name="Process 5">
            <a:extLst>
              <a:ext uri="{FF2B5EF4-FFF2-40B4-BE49-F238E27FC236}">
                <a16:creationId xmlns:a16="http://schemas.microsoft.com/office/drawing/2014/main" id="{12B9723C-ED32-670F-F2EE-10AC64B904AA}"/>
              </a:ext>
            </a:extLst>
          </p:cNvPr>
          <p:cNvSpPr/>
          <p:nvPr/>
        </p:nvSpPr>
        <p:spPr>
          <a:xfrm rot="16200000">
            <a:off x="10192137" y="2147396"/>
            <a:ext cx="169226" cy="3342032"/>
          </a:xfrm>
          <a:prstGeom prst="flowChartProcess">
            <a:avLst/>
          </a:prstGeom>
          <a:noFill/>
          <a:ln w="158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rgbClr val="FF0000"/>
              </a:solidFill>
            </a:endParaRPr>
          </a:p>
        </p:txBody>
      </p:sp>
      <p:sp>
        <p:nvSpPr>
          <p:cNvPr id="3" name="Process 2">
            <a:extLst>
              <a:ext uri="{FF2B5EF4-FFF2-40B4-BE49-F238E27FC236}">
                <a16:creationId xmlns:a16="http://schemas.microsoft.com/office/drawing/2014/main" id="{2FBB24AE-A323-2613-7A6F-908041820746}"/>
              </a:ext>
            </a:extLst>
          </p:cNvPr>
          <p:cNvSpPr/>
          <p:nvPr/>
        </p:nvSpPr>
        <p:spPr>
          <a:xfrm rot="16200000">
            <a:off x="10192136" y="2902862"/>
            <a:ext cx="169225" cy="3342033"/>
          </a:xfrm>
          <a:prstGeom prst="flowChartProcess">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rgbClr val="FF0000"/>
              </a:solidFill>
            </a:endParaRPr>
          </a:p>
        </p:txBody>
      </p:sp>
    </p:spTree>
    <p:extLst>
      <p:ext uri="{BB962C8B-B14F-4D97-AF65-F5344CB8AC3E}">
        <p14:creationId xmlns:p14="http://schemas.microsoft.com/office/powerpoint/2010/main" val="4107068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EB57EE-0E3A-BC7D-71B2-23856375999B}"/>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2ADE598A-DF85-08D4-E19D-ACF358A60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EDE18-0037-481F-0894-972458967B9A}"/>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 Sensitivity Analysis</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2739DF6E-C6CF-4884-3255-933FD2638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B393FE4-954C-363C-E18C-9B6212663D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086CDB5-1835-751D-4194-008D83B3CBCB}"/>
              </a:ext>
            </a:extLst>
          </p:cNvPr>
          <p:cNvSpPr>
            <a:spLocks noGrp="1"/>
          </p:cNvSpPr>
          <p:nvPr>
            <p:ph idx="1"/>
          </p:nvPr>
        </p:nvSpPr>
        <p:spPr>
          <a:xfrm>
            <a:off x="0" y="2955150"/>
            <a:ext cx="4846320" cy="3315779"/>
          </a:xfrm>
        </p:spPr>
        <p:txBody>
          <a:bodyPr>
            <a:noAutofit/>
          </a:bodyPr>
          <a:lstStyle/>
          <a:p>
            <a:pPr marL="342900" lvl="0" indent="-342900" algn="just">
              <a:lnSpc>
                <a:spcPct val="115000"/>
              </a:lnSpc>
              <a:spcAft>
                <a:spcPts val="800"/>
              </a:spcAft>
              <a:buSzPts val="1000"/>
              <a:buFont typeface="Symbol" pitchFamily="2" charset="2"/>
              <a:buChar char=""/>
              <a:tabLst>
                <a:tab pos="457200" algn="l"/>
              </a:tabLst>
            </a:pP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Insights from Sensitivity:</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analysis shows the </a:t>
            </a: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return is most sensitive to the High-Risk allowance</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binding 15% R3 cap suggests that relaxing it could improve returns – the model likely would invest more in a high-return (but high-risk) asset if allowed. On the other hand, the tight sector requirements forced inclusion of some lower-return sectors; if those requirements were eased, the model would concentrate even more in the best-performing sector (Financials). However, such concentration was intentionally limited to maintain diversification. </a:t>
            </a:r>
          </a:p>
          <a:p>
            <a:pPr marL="342900" lvl="0" indent="-342900" algn="just">
              <a:lnSpc>
                <a:spcPct val="115000"/>
              </a:lnSpc>
              <a:spcAft>
                <a:spcPts val="800"/>
              </a:spcAft>
              <a:buSzPts val="1000"/>
              <a:buFont typeface="Symbol" pitchFamily="2" charset="2"/>
              <a:buChar char=""/>
              <a:tabLst>
                <a:tab pos="457200" algn="l"/>
              </a:tabLst>
            </a:pP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summary, the binding constraints ensure the solution remains diversified and low-risk, but they come at the cost of some foregone return (as indicated by the shadow prices).</a:t>
            </a:r>
            <a:endParaRPr lang="en-IN"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6" name="Picture 5" descr="A table with numbers and a number of items&#10;&#10;AI-generated content may be incorrect.">
            <a:extLst>
              <a:ext uri="{FF2B5EF4-FFF2-40B4-BE49-F238E27FC236}">
                <a16:creationId xmlns:a16="http://schemas.microsoft.com/office/drawing/2014/main" id="{E27782A6-7362-D5CE-738E-7B20A8ABFAE9}"/>
              </a:ext>
            </a:extLst>
          </p:cNvPr>
          <p:cNvPicPr>
            <a:picLocks noChangeAspect="1"/>
          </p:cNvPicPr>
          <p:nvPr/>
        </p:nvPicPr>
        <p:blipFill>
          <a:blip r:embed="rId2"/>
          <a:stretch>
            <a:fillRect/>
          </a:stretch>
        </p:blipFill>
        <p:spPr>
          <a:xfrm>
            <a:off x="5712916" y="3614156"/>
            <a:ext cx="5806379" cy="1770336"/>
          </a:xfrm>
          <a:prstGeom prst="rect">
            <a:avLst/>
          </a:prstGeom>
        </p:spPr>
      </p:pic>
    </p:spTree>
    <p:extLst>
      <p:ext uri="{BB962C8B-B14F-4D97-AF65-F5344CB8AC3E}">
        <p14:creationId xmlns:p14="http://schemas.microsoft.com/office/powerpoint/2010/main" val="2034601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FB029D-3B11-816C-BB0A-894882DB378D}"/>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113AE1EC-F2CE-2046-D2DE-E49CDE383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71BD8C-C9CF-80FA-7673-2D5D8E9C19E1}"/>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Optimisation Model </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310D9696-AAE4-DD8C-A85B-568E56EB2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55653E0-0D60-5B24-666C-EF1C5660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8701C7D1-9F05-4609-ADFE-D964BFC31994}"/>
              </a:ext>
            </a:extLst>
          </p:cNvPr>
          <p:cNvSpPr>
            <a:spLocks noGrp="1"/>
          </p:cNvSpPr>
          <p:nvPr>
            <p:ph idx="1"/>
          </p:nvPr>
        </p:nvSpPr>
        <p:spPr>
          <a:xfrm>
            <a:off x="332907" y="2996439"/>
            <a:ext cx="6447033" cy="3269431"/>
          </a:xfrm>
        </p:spPr>
        <p:txBody>
          <a:bodyPr>
            <a:noAutofit/>
          </a:bodyPr>
          <a:lstStyle/>
          <a:p>
            <a:pPr algn="just">
              <a:lnSpc>
                <a:spcPct val="115000"/>
              </a:lnSpc>
              <a:spcAft>
                <a:spcPts val="800"/>
              </a:spcAft>
              <a:buNone/>
            </a:pP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Optimal ILP portfolio composition – the 5 selected stocks (remaining 3 stocks receive 0%).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Selected Assets (5):</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ILP optimization chose the following five stocks for the portfolio:</a:t>
            </a:r>
            <a:endParaRPr lang="en-IN" sz="1200" kern="1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Suncorp (SUN)</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Financials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Risk Group R1</a:t>
            </a:r>
            <a:endParaRPr lang="en-IN" sz="1200" kern="1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Commonwealth Bank (CBA)</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Financials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Risk Group R1</a:t>
            </a:r>
            <a:endParaRPr lang="en-IN" sz="1200" kern="1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 Medicus (PME)</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Health Care</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Risk Group R2</a:t>
            </a:r>
            <a:endParaRPr lang="en-IN" sz="1200" kern="1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Xero (XRO)</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Tech</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Risk Group R2</a:t>
            </a:r>
            <a:endParaRPr lang="en-IN" sz="1200" kern="1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TPG Telecom (TPG)</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Comm Services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Risk Group R3</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itchFamily="2" charset="2"/>
              <a:buChar char=""/>
              <a:tabLst>
                <a:tab pos="4572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portfolio’s total expected return is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9.48%</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(this figure represents the average return of the 5-stock </a:t>
            </a:r>
            <a:r>
              <a:rPr lang="en-IN" sz="12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portfolio.Notably</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this return is much higher than the LP model’s return, reflecting the more aggressive asset selection.</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3805859E-1CA3-6B90-DFA3-BC1CD7E9405A}"/>
              </a:ext>
            </a:extLst>
          </p:cNvPr>
          <p:cNvPicPr>
            <a:picLocks noChangeAspect="1"/>
          </p:cNvPicPr>
          <p:nvPr/>
        </p:nvPicPr>
        <p:blipFill>
          <a:blip r:embed="rId2"/>
          <a:stretch>
            <a:fillRect/>
          </a:stretch>
        </p:blipFill>
        <p:spPr>
          <a:xfrm>
            <a:off x="5197680" y="3953787"/>
            <a:ext cx="6661413" cy="1966879"/>
          </a:xfrm>
          <a:prstGeom prst="rect">
            <a:avLst/>
          </a:prstGeom>
        </p:spPr>
      </p:pic>
    </p:spTree>
    <p:extLst>
      <p:ext uri="{BB962C8B-B14F-4D97-AF65-F5344CB8AC3E}">
        <p14:creationId xmlns:p14="http://schemas.microsoft.com/office/powerpoint/2010/main" val="4274075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E04557-B9C9-9469-965B-E53FD9C8D992}"/>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B8DB3B8F-A8DD-1544-007C-FBC139F1F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8398E0-7BC8-0D57-D601-8F56DCFD0132}"/>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Optimisation Model </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B1F5D0D8-8939-A05F-8898-36F623B4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A20EA0A-2B8E-163A-5E51-F8D961B5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7D6EC017-5FD8-BA5A-A7C8-3083B6678938}"/>
              </a:ext>
            </a:extLst>
          </p:cNvPr>
          <p:cNvSpPr>
            <a:spLocks noGrp="1"/>
          </p:cNvSpPr>
          <p:nvPr>
            <p:ph idx="1"/>
          </p:nvPr>
        </p:nvSpPr>
        <p:spPr>
          <a:xfrm>
            <a:off x="-373487" y="2996439"/>
            <a:ext cx="7340957" cy="3861561"/>
          </a:xfrm>
        </p:spPr>
        <p:txBody>
          <a:bodyPr>
            <a:noAutofit/>
          </a:bodyPr>
          <a:lstStyle/>
          <a:p>
            <a:pPr marL="0" indent="0" algn="just">
              <a:lnSpc>
                <a:spcPct val="115000"/>
              </a:lnSpc>
              <a:spcAft>
                <a:spcPts val="800"/>
              </a:spcAft>
              <a:buSzPts val="1000"/>
              <a:buNone/>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Verification of Constraints: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All ILP constraints are satisfied:</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All four sectors are represented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Health: </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PME;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XRO;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Comm: </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TPG;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Finance: </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SUN &amp; CBA). Finance is the only sector contributing two stocks (which is allowed, and no sector has more than 2 picks).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Exactly 5 stocks are chosen.</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Risk composition: 2 low-risk (SUN, CBA in R1), 2 medium-risk (PME, XRO in R2), 1 high-risk (TPG in R3). This meets the “≥2 R1, ≤1 R3, and if R3 then ≥1 R2” criteria – we have one R3 (TPG) accompanied by two R2 stocks, and we have more than the required minimum of R1 stocks.</a:t>
            </a:r>
            <a:endParaRPr lang="en-IN" sz="1200" kern="1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Excluded Assets: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Telstra (TLS)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Paragon Care (PGC)</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2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Cosol (COS)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were not </a:t>
            </a:r>
            <a:r>
              <a:rPr lang="en-IN" sz="12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elected. These excluded stocks are the ones the model deemed less beneficial to the portfolio’s return given the constraints. TLS (Comm, R1) is very low risk but likely offered a lower return than CBA or SUN, so the model chose the two financial R1s over it. PGC and COS (both R3 stocks in Health and IT respectively) were high risk and their returns did not surpass those of the chosen assets enough to justify inclusion under the “at most one R3” rule (the one R3 slot was given to TPG, presumably because TPG had the highest return potential among R3 candidates).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descr="A screenshot of a spreadsheet&#10;&#10;AI-generated content may be incorrect.">
            <a:extLst>
              <a:ext uri="{FF2B5EF4-FFF2-40B4-BE49-F238E27FC236}">
                <a16:creationId xmlns:a16="http://schemas.microsoft.com/office/drawing/2014/main" id="{907CD60A-74AB-64E7-508C-4401F19D266A}"/>
              </a:ext>
            </a:extLst>
          </p:cNvPr>
          <p:cNvPicPr>
            <a:picLocks noChangeAspect="1"/>
          </p:cNvPicPr>
          <p:nvPr/>
        </p:nvPicPr>
        <p:blipFill>
          <a:blip r:embed="rId2"/>
          <a:stretch>
            <a:fillRect/>
          </a:stretch>
        </p:blipFill>
        <p:spPr>
          <a:xfrm>
            <a:off x="7102186" y="2795901"/>
            <a:ext cx="5089813" cy="3942080"/>
          </a:xfrm>
          <a:prstGeom prst="rect">
            <a:avLst/>
          </a:prstGeom>
        </p:spPr>
      </p:pic>
    </p:spTree>
    <p:extLst>
      <p:ext uri="{BB962C8B-B14F-4D97-AF65-F5344CB8AC3E}">
        <p14:creationId xmlns:p14="http://schemas.microsoft.com/office/powerpoint/2010/main" val="403929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D7B47-187A-6B05-FB3C-1FC3667419FB}"/>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04DCEB24-87F2-44D1-8A32-D404070981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8E6D5C-3619-5B1D-A036-D70347743F02}"/>
              </a:ext>
            </a:extLst>
          </p:cNvPr>
          <p:cNvSpPr>
            <a:spLocks noGrp="1"/>
          </p:cNvSpPr>
          <p:nvPr>
            <p:ph type="title"/>
          </p:nvPr>
        </p:nvSpPr>
        <p:spPr>
          <a:xfrm>
            <a:off x="1156851" y="637762"/>
            <a:ext cx="9888496" cy="1520377"/>
          </a:xfrm>
        </p:spPr>
        <p:txBody>
          <a:bodyPr anchor="ctr">
            <a:normAutofit/>
          </a:bodyPr>
          <a:lstStyle/>
          <a:p>
            <a:r>
              <a:rPr lang="en-IN"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Optimisation Model </a:t>
            </a:r>
            <a:br>
              <a:rPr lang="en-IN"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F3551CE7-6A3E-59ED-795C-CA0A1DCD4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45E06F9-09F2-FBEF-992A-4D1F1A3C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EF65FF35-7F56-D180-A63A-51A2246CB1BA}"/>
              </a:ext>
            </a:extLst>
          </p:cNvPr>
          <p:cNvSpPr>
            <a:spLocks noGrp="1"/>
          </p:cNvSpPr>
          <p:nvPr>
            <p:ph idx="1"/>
          </p:nvPr>
        </p:nvSpPr>
        <p:spPr>
          <a:xfrm>
            <a:off x="332908" y="2996439"/>
            <a:ext cx="6109934" cy="3315779"/>
          </a:xfrm>
        </p:spPr>
        <p:txBody>
          <a:bodyPr>
            <a:noAutofit/>
          </a:bodyPr>
          <a:lstStyle/>
          <a:p>
            <a:pPr marL="342900" lvl="0" indent="-342900">
              <a:lnSpc>
                <a:spcPct val="115000"/>
              </a:lnSpc>
              <a:spcAft>
                <a:spcPts val="800"/>
              </a:spcAft>
              <a:buSzPts val="1000"/>
              <a:buFont typeface="Symbol" pitchFamily="2" charset="2"/>
              <a:buChar char=""/>
              <a:tabLst>
                <a:tab pos="457200" algn="l"/>
              </a:tabLst>
            </a:pP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Interpretation:</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ILP optimal solution is a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more concentrated portfolio</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focused on the top-performing stocks in each sector/risk category combination. It Favors: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Financials sector</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heavily (40% of the portfolio split between two strong performers, SUN and CBA – reflecting the higher returns from finance stocks in the period).</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Growth-oriented picks in Health and Tech (PME and XRO) that had high returns, rather than their small-cap counterparts.</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Only one Communications stock (TPG) – interestingly, the ILP chose the riskier telecom (TPG, R3) over Telstra (R1), suggesting TPG’s return was sufficiently high to take on its risk, especially since other constraints enforced overall balance.</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resulting ILP portfolio has a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balanced risk mix</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(two R1, two R2, one R3), but it is </a:t>
            </a:r>
            <a:r>
              <a:rPr lang="en-IN" sz="1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less diversified</a:t>
            </a:r>
            <a:r>
              <a:rPr lang="en-IN" sz="1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than the LP portfolio (only 5 stocks instead of 8). This allowed it to achieve a higher return, as it did not have to include every low-return asset.</a:t>
            </a:r>
            <a:endParaRPr lang="en-IN" sz="12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descr="A screenshot of a spreadsheet&#10;&#10;AI-generated content may be incorrect.">
            <a:extLst>
              <a:ext uri="{FF2B5EF4-FFF2-40B4-BE49-F238E27FC236}">
                <a16:creationId xmlns:a16="http://schemas.microsoft.com/office/drawing/2014/main" id="{15A795E4-9075-ED1D-1E41-0D09C67E1503}"/>
              </a:ext>
            </a:extLst>
          </p:cNvPr>
          <p:cNvPicPr>
            <a:picLocks noChangeAspect="1"/>
          </p:cNvPicPr>
          <p:nvPr/>
        </p:nvPicPr>
        <p:blipFill>
          <a:blip r:embed="rId2"/>
          <a:stretch>
            <a:fillRect/>
          </a:stretch>
        </p:blipFill>
        <p:spPr>
          <a:xfrm>
            <a:off x="7102186" y="2795901"/>
            <a:ext cx="5089813" cy="3942080"/>
          </a:xfrm>
          <a:prstGeom prst="rect">
            <a:avLst/>
          </a:prstGeom>
        </p:spPr>
      </p:pic>
    </p:spTree>
    <p:extLst>
      <p:ext uri="{BB962C8B-B14F-4D97-AF65-F5344CB8AC3E}">
        <p14:creationId xmlns:p14="http://schemas.microsoft.com/office/powerpoint/2010/main" val="3476703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B8FD35-5B6F-1E0E-8EF3-72C0C80B8BCB}"/>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6B21B4-0033-9D6B-D8DC-E5E7A7C0B181}"/>
              </a:ext>
            </a:extLst>
          </p:cNvPr>
          <p:cNvSpPr>
            <a:spLocks noGrp="1"/>
          </p:cNvSpPr>
          <p:nvPr>
            <p:ph type="title"/>
          </p:nvPr>
        </p:nvSpPr>
        <p:spPr>
          <a:xfrm>
            <a:off x="1155557" y="637763"/>
            <a:ext cx="4310698" cy="1627274"/>
          </a:xfrm>
        </p:spPr>
        <p:txBody>
          <a:bodyPr anchor="t">
            <a:normAutofit/>
          </a:bodyPr>
          <a:lstStyle/>
          <a:p>
            <a:r>
              <a:rPr lang="en-IN" sz="4100"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sz="41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Model Solver</a:t>
            </a:r>
            <a:br>
              <a:rPr lang="en-IN" sz="4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sz="4100" dirty="0">
              <a:solidFill>
                <a:schemeClr val="bg1"/>
              </a:solidFill>
            </a:endParaRPr>
          </a:p>
        </p:txBody>
      </p:sp>
      <p:sp>
        <p:nvSpPr>
          <p:cNvPr id="41" name="Rectangle 4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6" name="Content Placeholder 35">
            <a:extLst>
              <a:ext uri="{FF2B5EF4-FFF2-40B4-BE49-F238E27FC236}">
                <a16:creationId xmlns:a16="http://schemas.microsoft.com/office/drawing/2014/main" id="{E13A5076-2CCC-DD7E-848B-EFC4C4222EBC}"/>
              </a:ext>
            </a:extLst>
          </p:cNvPr>
          <p:cNvSpPr>
            <a:spLocks noGrp="1"/>
          </p:cNvSpPr>
          <p:nvPr>
            <p:ph idx="1"/>
          </p:nvPr>
        </p:nvSpPr>
        <p:spPr>
          <a:xfrm>
            <a:off x="737545" y="2623391"/>
            <a:ext cx="4284416" cy="3633467"/>
          </a:xfrm>
        </p:spPr>
        <p:txBody>
          <a:bodyPr>
            <a:normAutofit/>
          </a:bodyPr>
          <a:lstStyle/>
          <a:p>
            <a:pPr algn="just"/>
            <a:r>
              <a:rPr lang="en-IN" sz="1500" b="0" i="0" u="none" strike="noStrike" dirty="0">
                <a:solidFill>
                  <a:schemeClr val="bg1"/>
                </a:solidFill>
                <a:effectLst/>
                <a:latin typeface="Times New Roman" panose="02020603050405020304" pitchFamily="18" charset="0"/>
                <a:cs typeface="Times New Roman" panose="02020603050405020304" pitchFamily="18" charset="0"/>
              </a:rPr>
              <a:t>Within this Integer linear model, the solving approach used is the Simplex LP method.</a:t>
            </a:r>
            <a:endParaRPr lang="en-US" sz="1500" dirty="0">
              <a:solidFill>
                <a:schemeClr val="bg1"/>
              </a:solidFill>
              <a:latin typeface="Times New Roman" panose="02020603050405020304" pitchFamily="18" charset="0"/>
              <a:cs typeface="Times New Roman" panose="02020603050405020304" pitchFamily="18" charset="0"/>
            </a:endParaRPr>
          </a:p>
          <a:p>
            <a:pPr algn="just"/>
            <a:r>
              <a:rPr lang="en-IN" sz="1500" b="0" i="0" u="none" strike="noStrike" dirty="0">
                <a:solidFill>
                  <a:schemeClr val="bg1"/>
                </a:solidFill>
                <a:effectLst/>
                <a:latin typeface="Times New Roman" panose="02020603050405020304" pitchFamily="18" charset="0"/>
                <a:cs typeface="Times New Roman" panose="02020603050405020304" pitchFamily="18" charset="0"/>
              </a:rPr>
              <a:t>the decision variables are binary (either 0 or 1), this model requires the </a:t>
            </a:r>
            <a:r>
              <a:rPr lang="en-IN" sz="1500" b="1" i="0" u="none" strike="noStrike" dirty="0">
                <a:solidFill>
                  <a:schemeClr val="bg1"/>
                </a:solidFill>
                <a:effectLst/>
                <a:latin typeface="Times New Roman" panose="02020603050405020304" pitchFamily="18" charset="0"/>
                <a:cs typeface="Times New Roman" panose="02020603050405020304" pitchFamily="18" charset="0"/>
              </a:rPr>
              <a:t>"binary"</a:t>
            </a:r>
            <a:r>
              <a:rPr lang="en-IN" sz="1500" b="0" i="0" u="none" strike="noStrike" dirty="0">
                <a:solidFill>
                  <a:schemeClr val="bg1"/>
                </a:solidFill>
                <a:effectLst/>
                <a:latin typeface="Times New Roman" panose="02020603050405020304" pitchFamily="18" charset="0"/>
                <a:cs typeface="Times New Roman" panose="02020603050405020304" pitchFamily="18" charset="0"/>
              </a:rPr>
              <a:t> constraint to be applied. ensuring that each of the decision variables can only take values of 0 or 1 (either the stock is included or not in the optimal portfolio</a:t>
            </a:r>
          </a:p>
          <a:p>
            <a:pPr algn="just"/>
            <a:r>
              <a:rPr lang="en-IN" sz="1500" b="0" i="0" u="none" strike="noStrike" dirty="0">
                <a:solidFill>
                  <a:schemeClr val="bg1"/>
                </a:solidFill>
                <a:effectLst/>
                <a:latin typeface="Times New Roman" panose="02020603050405020304" pitchFamily="18" charset="0"/>
                <a:cs typeface="Times New Roman" panose="02020603050405020304" pitchFamily="18" charset="0"/>
              </a:rPr>
              <a:t>The option to </a:t>
            </a:r>
            <a:r>
              <a:rPr lang="en-IN" sz="1500" b="1" i="0" u="none" strike="noStrike" dirty="0">
                <a:solidFill>
                  <a:schemeClr val="bg1"/>
                </a:solidFill>
                <a:effectLst/>
                <a:latin typeface="Times New Roman" panose="02020603050405020304" pitchFamily="18" charset="0"/>
                <a:cs typeface="Times New Roman" panose="02020603050405020304" pitchFamily="18" charset="0"/>
              </a:rPr>
              <a:t>Make Unconstrained Variables Non-Negative</a:t>
            </a:r>
            <a:r>
              <a:rPr lang="en-IN" sz="1500" b="0" i="0" u="none" strike="noStrike" dirty="0">
                <a:solidFill>
                  <a:schemeClr val="bg1"/>
                </a:solidFill>
                <a:effectLst/>
                <a:latin typeface="Times New Roman" panose="02020603050405020304" pitchFamily="18" charset="0"/>
                <a:cs typeface="Times New Roman" panose="02020603050405020304" pitchFamily="18" charset="0"/>
              </a:rPr>
              <a:t> is also ticked to avoid any negative values in the decision variables, which would be unrealistic in this case (as investment weights cannot be negative)</a:t>
            </a:r>
            <a:endParaRPr lang="en-US" sz="1500" dirty="0">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screenshot of a computer&#10;&#10;AI-generated content may be incorrect.">
            <a:extLst>
              <a:ext uri="{FF2B5EF4-FFF2-40B4-BE49-F238E27FC236}">
                <a16:creationId xmlns:a16="http://schemas.microsoft.com/office/drawing/2014/main" id="{A92A425A-E9DB-C164-327D-7085642308AC}"/>
              </a:ext>
            </a:extLst>
          </p:cNvPr>
          <p:cNvPicPr>
            <a:picLocks noChangeAspect="1"/>
          </p:cNvPicPr>
          <p:nvPr/>
        </p:nvPicPr>
        <p:blipFill>
          <a:blip r:embed="rId2"/>
          <a:stretch>
            <a:fillRect/>
          </a:stretch>
        </p:blipFill>
        <p:spPr>
          <a:xfrm>
            <a:off x="6815063" y="637762"/>
            <a:ext cx="4154692" cy="5576770"/>
          </a:xfrm>
          <a:prstGeom prst="rect">
            <a:avLst/>
          </a:prstGeom>
        </p:spPr>
      </p:pic>
    </p:spTree>
    <p:extLst>
      <p:ext uri="{BB962C8B-B14F-4D97-AF65-F5344CB8AC3E}">
        <p14:creationId xmlns:p14="http://schemas.microsoft.com/office/powerpoint/2010/main" val="1519848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15B546-39AF-3EF1-8C5F-8CE4076571C1}"/>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04B79EB9-29D8-65F5-7E2F-43F1E05157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1972F1-D556-F5DA-DC92-2A79EE3F5717}"/>
              </a:ext>
            </a:extLst>
          </p:cNvPr>
          <p:cNvSpPr>
            <a:spLocks noGrp="1"/>
          </p:cNvSpPr>
          <p:nvPr>
            <p:ph type="title"/>
          </p:nvPr>
        </p:nvSpPr>
        <p:spPr>
          <a:xfrm>
            <a:off x="1156851" y="637762"/>
            <a:ext cx="9888496" cy="1520377"/>
          </a:xfrm>
        </p:spPr>
        <p:txBody>
          <a:bodyPr anchor="ctr">
            <a:normAutofit/>
          </a:bodyPr>
          <a:lstStyle/>
          <a:p>
            <a:r>
              <a:rPr lang="en-IN" b="1" ker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b="1" ker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LP Algebraic Model </a:t>
            </a:r>
            <a:br>
              <a:rPr lang="en-IN"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endParaRPr lang="en-US" dirty="0">
              <a:solidFill>
                <a:schemeClr val="bg1"/>
              </a:solidFill>
            </a:endParaRPr>
          </a:p>
        </p:txBody>
      </p:sp>
      <p:sp>
        <p:nvSpPr>
          <p:cNvPr id="30" name="Rectangle 29">
            <a:extLst>
              <a:ext uri="{FF2B5EF4-FFF2-40B4-BE49-F238E27FC236}">
                <a16:creationId xmlns:a16="http://schemas.microsoft.com/office/drawing/2014/main" id="{9CB7DEFE-553F-8D89-633C-A780F8C21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810F63F-C875-EE57-2AEC-F62C37E7E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8B7EA7A3-EB27-3F1F-D5A5-5DD87C950F59}"/>
              </a:ext>
            </a:extLst>
          </p:cNvPr>
          <p:cNvSpPr>
            <a:spLocks noGrp="1"/>
          </p:cNvSpPr>
          <p:nvPr>
            <p:ph idx="1"/>
          </p:nvPr>
        </p:nvSpPr>
        <p:spPr>
          <a:xfrm>
            <a:off x="476158" y="2626186"/>
            <a:ext cx="11072375" cy="4010409"/>
          </a:xfrm>
        </p:spPr>
        <p:txBody>
          <a:bodyPr>
            <a:noAutofit/>
          </a:bodyPr>
          <a:lstStyle/>
          <a:p>
            <a:pPr marL="0" indent="0">
              <a:lnSpc>
                <a:spcPct val="100000"/>
              </a:lnSpc>
              <a:buNone/>
            </a:pPr>
            <a:r>
              <a:rPr lang="en-AU" sz="1200" b="1" dirty="0"/>
              <a:t>                                           ILP Portfolio:</a:t>
            </a:r>
          </a:p>
          <a:p>
            <a:pPr marL="1828800" lvl="4" indent="0">
              <a:lnSpc>
                <a:spcPct val="100000"/>
              </a:lnSpc>
              <a:buNone/>
            </a:pPr>
            <a:r>
              <a:rPr lang="en-IN" sz="1400" dirty="0">
                <a:solidFill>
                  <a:schemeClr val="dk1"/>
                </a:solidFill>
              </a:rPr>
              <a:t>xi</a:t>
            </a:r>
            <a:r>
              <a:rPr lang="en-IN" sz="1400" b="0" i="0" u="none" strike="noStrike" dirty="0">
                <a:solidFill>
                  <a:schemeClr val="dk1"/>
                </a:solidFill>
                <a:effectLst/>
                <a:latin typeface="+mn-lt"/>
                <a:ea typeface="+mn-ea"/>
                <a:cs typeface="+mn-cs"/>
              </a:rPr>
              <a:t> denote the binary decision variable for including stock in the portfolio,</a:t>
            </a:r>
          </a:p>
          <a:p>
            <a:pPr marL="1828800" lvl="4" indent="0">
              <a:lnSpc>
                <a:spcPct val="100000"/>
              </a:lnSpc>
              <a:buNone/>
            </a:pPr>
            <a:r>
              <a:rPr lang="en-IN" sz="1400" b="1" dirty="0">
                <a:solidFill>
                  <a:schemeClr val="dk1"/>
                </a:solidFill>
              </a:rPr>
              <a:t>x</a:t>
            </a:r>
            <a:r>
              <a:rPr lang="en-IN" sz="1400" b="1" i="0" u="none" strike="noStrike" dirty="0">
                <a:solidFill>
                  <a:schemeClr val="dk1"/>
                </a:solidFill>
                <a:effectLst/>
                <a:latin typeface="+mn-lt"/>
                <a:ea typeface="+mn-ea"/>
                <a:cs typeface="+mn-cs"/>
              </a:rPr>
              <a:t>i=1 </a:t>
            </a:r>
            <a:r>
              <a:rPr lang="en-IN" sz="1400" b="0" i="0" u="none" strike="noStrike" dirty="0">
                <a:solidFill>
                  <a:schemeClr val="dk1"/>
                </a:solidFill>
                <a:effectLst/>
                <a:latin typeface="+mn-lt"/>
                <a:ea typeface="+mn-ea"/>
                <a:cs typeface="+mn-cs"/>
              </a:rPr>
              <a:t>if stock</a:t>
            </a:r>
            <a:r>
              <a:rPr lang="en-IN" sz="1400" b="0" i="0" u="none" strike="noStrike" baseline="0" dirty="0">
                <a:solidFill>
                  <a:schemeClr val="dk1"/>
                </a:solidFill>
                <a:effectLst/>
                <a:latin typeface="+mn-lt"/>
                <a:ea typeface="+mn-ea"/>
                <a:cs typeface="+mn-cs"/>
              </a:rPr>
              <a:t> </a:t>
            </a:r>
            <a:r>
              <a:rPr lang="en-IN" sz="1400" b="0" i="0" u="none" strike="noStrike" dirty="0">
                <a:solidFill>
                  <a:schemeClr val="dk1"/>
                </a:solidFill>
                <a:effectLst/>
                <a:latin typeface="+mn-lt"/>
                <a:ea typeface="+mn-ea"/>
                <a:cs typeface="+mn-cs"/>
              </a:rPr>
              <a:t>is included,</a:t>
            </a:r>
            <a:r>
              <a:rPr lang="en-IN" sz="1400" b="0" i="0" u="none" strike="noStrike" baseline="0" dirty="0">
                <a:solidFill>
                  <a:schemeClr val="dk1"/>
                </a:solidFill>
                <a:effectLst/>
                <a:latin typeface="+mn-lt"/>
                <a:ea typeface="+mn-ea"/>
                <a:cs typeface="+mn-cs"/>
              </a:rPr>
              <a:t> </a:t>
            </a:r>
            <a:r>
              <a:rPr lang="en-IN" sz="1400" b="0" i="0" u="none" strike="noStrike" dirty="0">
                <a:solidFill>
                  <a:schemeClr val="dk1"/>
                </a:solidFill>
                <a:effectLst/>
                <a:latin typeface="+mn-lt"/>
                <a:ea typeface="+mn-ea"/>
                <a:cs typeface="+mn-cs"/>
              </a:rPr>
              <a:t>otherwise</a:t>
            </a:r>
            <a:r>
              <a:rPr lang="en-IN" sz="1400" b="0" i="0" u="none" strike="noStrike" baseline="0" dirty="0">
                <a:solidFill>
                  <a:schemeClr val="dk1"/>
                </a:solidFill>
                <a:effectLst/>
                <a:latin typeface="+mn-lt"/>
                <a:ea typeface="+mn-ea"/>
                <a:cs typeface="+mn-cs"/>
              </a:rPr>
              <a:t> </a:t>
            </a:r>
            <a:r>
              <a:rPr lang="en-IN" sz="1400" b="1" baseline="0" dirty="0">
                <a:solidFill>
                  <a:schemeClr val="dk1"/>
                </a:solidFill>
              </a:rPr>
              <a:t>x</a:t>
            </a:r>
            <a:r>
              <a:rPr lang="en-IN" sz="1400" b="1" i="0" u="none" strike="noStrike" dirty="0">
                <a:solidFill>
                  <a:schemeClr val="dk1"/>
                </a:solidFill>
                <a:effectLst/>
                <a:latin typeface="+mn-lt"/>
                <a:ea typeface="+mn-ea"/>
                <a:cs typeface="+mn-cs"/>
              </a:rPr>
              <a:t>i​=0 </a:t>
            </a:r>
          </a:p>
          <a:p>
            <a:pPr marL="1828800" lvl="4" indent="0">
              <a:lnSpc>
                <a:spcPct val="100000"/>
              </a:lnSpc>
              <a:buNone/>
            </a:pPr>
            <a:r>
              <a:rPr lang="en-IN" sz="1400" i="0" u="none" strike="noStrike" dirty="0">
                <a:solidFill>
                  <a:schemeClr val="dk1"/>
                </a:solidFill>
                <a:effectLst/>
                <a:latin typeface="+mn-lt"/>
                <a:ea typeface="+mn-ea"/>
                <a:cs typeface="+mn-cs"/>
              </a:rPr>
              <a:t>Stocks denoted as </a:t>
            </a:r>
            <a:r>
              <a:rPr lang="en-IN" sz="1400" i="0" u="none" strike="noStrike" dirty="0" err="1">
                <a:solidFill>
                  <a:schemeClr val="dk1"/>
                </a:solidFill>
                <a:effectLst/>
                <a:latin typeface="+mn-lt"/>
                <a:ea typeface="+mn-ea"/>
                <a:cs typeface="+mn-cs"/>
              </a:rPr>
              <a:t>s</a:t>
            </a:r>
            <a:r>
              <a:rPr lang="en-IN" sz="1400" b="1" dirty="0" err="1">
                <a:solidFill>
                  <a:schemeClr val="dk1"/>
                </a:solidFill>
              </a:rPr>
              <a:t>i</a:t>
            </a:r>
            <a:r>
              <a:rPr lang="en-IN" sz="1400" b="1" dirty="0">
                <a:solidFill>
                  <a:schemeClr val="dk1"/>
                </a:solidFill>
              </a:rPr>
              <a:t>=11,12,21,22,31,32,41,42)</a:t>
            </a:r>
            <a:endParaRPr lang="en-IN" sz="1400" b="1" i="0" u="none" strike="noStrike" dirty="0">
              <a:solidFill>
                <a:schemeClr val="dk1"/>
              </a:solidFill>
              <a:effectLst/>
              <a:latin typeface="+mn-lt"/>
              <a:ea typeface="+mn-ea"/>
              <a:cs typeface="+mn-cs"/>
            </a:endParaRPr>
          </a:p>
          <a:p>
            <a:pPr marL="1828800" lvl="4" indent="0">
              <a:lnSpc>
                <a:spcPct val="100000"/>
              </a:lnSpc>
              <a:buNone/>
            </a:pPr>
            <a:r>
              <a:rPr lang="en-AU" sz="1400" b="1" dirty="0">
                <a:solidFill>
                  <a:schemeClr val="dk1"/>
                </a:solidFill>
                <a:effectLst/>
                <a:latin typeface="+mn-lt"/>
                <a:ea typeface="+mn-ea"/>
                <a:cs typeface="+mn-cs"/>
              </a:rPr>
              <a:t>Objective</a:t>
            </a:r>
            <a:r>
              <a:rPr lang="en-AU" sz="1400" b="1" baseline="0" dirty="0">
                <a:solidFill>
                  <a:schemeClr val="dk1"/>
                </a:solidFill>
                <a:effectLst/>
                <a:latin typeface="+mn-lt"/>
                <a:ea typeface="+mn-ea"/>
                <a:cs typeface="+mn-cs"/>
              </a:rPr>
              <a:t> Function : </a:t>
            </a:r>
            <a:r>
              <a:rPr lang="en-AU" sz="1400" baseline="0" dirty="0">
                <a:solidFill>
                  <a:schemeClr val="dk1"/>
                </a:solidFill>
                <a:effectLst/>
                <a:latin typeface="+mn-lt"/>
                <a:ea typeface="+mn-ea"/>
                <a:cs typeface="+mn-cs"/>
              </a:rPr>
              <a:t>max  Z=  </a:t>
            </a:r>
            <a:r>
              <a:rPr lang="en-IN" sz="1400" b="0" i="0" u="none" strike="noStrike" dirty="0">
                <a:solidFill>
                  <a:schemeClr val="dk1"/>
                </a:solidFill>
                <a:effectLst/>
                <a:latin typeface="+mn-lt"/>
                <a:ea typeface="+mn-ea"/>
                <a:cs typeface="+mn-cs"/>
              </a:rPr>
              <a:t>∑8si=1(xi​)</a:t>
            </a:r>
            <a:endParaRPr lang="en-AU" sz="1400" dirty="0">
              <a:effectLst/>
            </a:endParaRPr>
          </a:p>
          <a:p>
            <a:pPr marL="1828800" lvl="4" indent="0">
              <a:lnSpc>
                <a:spcPct val="100000"/>
              </a:lnSpc>
              <a:buNone/>
            </a:pPr>
            <a:r>
              <a:rPr lang="en-AU" sz="1400" b="1" dirty="0"/>
              <a:t>Subject</a:t>
            </a:r>
            <a:r>
              <a:rPr lang="en-AU" sz="1400" b="1" baseline="0" dirty="0"/>
              <a:t> to:</a:t>
            </a:r>
          </a:p>
          <a:p>
            <a:pPr marL="1828800" lvl="4" indent="0">
              <a:lnSpc>
                <a:spcPct val="100000"/>
              </a:lnSpc>
              <a:buNone/>
            </a:pPr>
            <a:r>
              <a:rPr lang="en-IN" sz="1400" b="0" i="0" u="none" strike="noStrike" dirty="0">
                <a:solidFill>
                  <a:schemeClr val="dk1"/>
                </a:solidFill>
                <a:effectLst/>
                <a:latin typeface="+mn-lt"/>
                <a:ea typeface="+mn-ea"/>
                <a:cs typeface="+mn-cs"/>
              </a:rPr>
              <a:t>∑ 8si=1(xi=5)</a:t>
            </a:r>
            <a:r>
              <a:rPr lang="en-IN" sz="1400" b="0" i="0" u="none" strike="noStrike" baseline="0" dirty="0">
                <a:solidFill>
                  <a:schemeClr val="dk1"/>
                </a:solidFill>
                <a:effectLst/>
                <a:latin typeface="+mn-lt"/>
                <a:ea typeface="+mn-ea"/>
                <a:cs typeface="+mn-cs"/>
              </a:rPr>
              <a:t>                                    </a:t>
            </a:r>
            <a:r>
              <a:rPr lang="en-IN" sz="1400" b="0" i="0" u="none" strike="noStrike" dirty="0">
                <a:solidFill>
                  <a:schemeClr val="dk1"/>
                </a:solidFill>
                <a:effectLst/>
                <a:latin typeface="+mn-lt"/>
                <a:ea typeface="+mn-ea"/>
                <a:cs typeface="+mn-cs"/>
              </a:rPr>
              <a:t> (5 Stocks need to chosen )</a:t>
            </a:r>
          </a:p>
          <a:p>
            <a:pPr marL="1828800" lvl="4" indent="0">
              <a:lnSpc>
                <a:spcPct val="100000"/>
              </a:lnSpc>
              <a:buNone/>
            </a:pPr>
            <a:r>
              <a:rPr lang="en-AU" sz="1400" dirty="0"/>
              <a:t>s11+s12</a:t>
            </a:r>
            <a:r>
              <a:rPr lang="en-AU" sz="1400" baseline="0" dirty="0"/>
              <a:t> &gt;=1                                  (Alease 1 stock from Health sector)</a:t>
            </a:r>
          </a:p>
          <a:p>
            <a:pPr marL="1828800" lvl="4" indent="0">
              <a:lnSpc>
                <a:spcPct val="150000"/>
              </a:lnSpc>
              <a:spcBef>
                <a:spcPts val="0"/>
              </a:spcBef>
              <a:buNone/>
              <a:defRPr/>
            </a:pPr>
            <a:r>
              <a:rPr lang="en-AU" sz="1400" dirty="0"/>
              <a:t>s</a:t>
            </a:r>
            <a:r>
              <a:rPr lang="en-AU" sz="1400" baseline="0" dirty="0"/>
              <a:t>21+s22 &gt;=1                                  (Alease 1 stock from Technology  sector)</a:t>
            </a:r>
          </a:p>
          <a:p>
            <a:pPr marL="1828800" lvl="4" indent="0">
              <a:lnSpc>
                <a:spcPct val="150000"/>
              </a:lnSpc>
              <a:spcBef>
                <a:spcPts val="0"/>
              </a:spcBef>
              <a:buNone/>
              <a:defRPr/>
            </a:pPr>
            <a:r>
              <a:rPr lang="en-AU" sz="1400" dirty="0"/>
              <a:t>s</a:t>
            </a:r>
            <a:r>
              <a:rPr lang="en-AU" sz="1400" baseline="0" dirty="0"/>
              <a:t>31+s32&gt;=1                                   (Alease 1 stock from Communication sector)</a:t>
            </a:r>
          </a:p>
          <a:p>
            <a:pPr marL="1828800" lvl="4" indent="0">
              <a:lnSpc>
                <a:spcPct val="150000"/>
              </a:lnSpc>
              <a:spcBef>
                <a:spcPts val="0"/>
              </a:spcBef>
              <a:buNone/>
              <a:defRPr/>
            </a:pPr>
            <a:r>
              <a:rPr lang="en-AU" sz="1400" dirty="0"/>
              <a:t>s</a:t>
            </a:r>
            <a:r>
              <a:rPr lang="en-AU" sz="1400" baseline="0" dirty="0"/>
              <a:t>41+s42 &gt;=1                                  (Alease 1 stock from finance sector)</a:t>
            </a:r>
          </a:p>
          <a:p>
            <a:pPr marL="1828800" lvl="4" indent="0">
              <a:lnSpc>
                <a:spcPct val="100000"/>
              </a:lnSpc>
              <a:buNone/>
            </a:pPr>
            <a:r>
              <a:rPr lang="en-AU" sz="1400" dirty="0">
                <a:solidFill>
                  <a:schemeClr val="dk1"/>
                </a:solidFill>
                <a:effectLst/>
                <a:latin typeface="+mn-lt"/>
                <a:ea typeface="+mn-ea"/>
                <a:cs typeface="+mn-cs"/>
              </a:rPr>
              <a:t>s11+s12</a:t>
            </a:r>
            <a:r>
              <a:rPr lang="en-AU" sz="1400" baseline="0" dirty="0">
                <a:solidFill>
                  <a:schemeClr val="dk1"/>
                </a:solidFill>
                <a:effectLst/>
                <a:latin typeface="+mn-lt"/>
                <a:ea typeface="+mn-ea"/>
                <a:cs typeface="+mn-cs"/>
              </a:rPr>
              <a:t> &lt;=1                                   (</a:t>
            </a:r>
            <a:r>
              <a:rPr lang="en-IN" sz="1400" b="0" i="0" u="none" strike="noStrike" dirty="0">
                <a:solidFill>
                  <a:schemeClr val="dk1"/>
                </a:solidFill>
                <a:effectLst/>
                <a:latin typeface="+mn-lt"/>
                <a:ea typeface="+mn-ea"/>
                <a:cs typeface="+mn-cs"/>
              </a:rPr>
              <a:t>At most 1 stock from the highest-risk</a:t>
            </a:r>
            <a:r>
              <a:rPr lang="en-AU" sz="1400" baseline="0" dirty="0">
                <a:solidFill>
                  <a:schemeClr val="dk1"/>
                </a:solidFill>
                <a:effectLst/>
                <a:latin typeface="+mn-lt"/>
                <a:ea typeface="+mn-ea"/>
                <a:cs typeface="+mn-cs"/>
              </a:rPr>
              <a:t>)</a:t>
            </a:r>
          </a:p>
          <a:p>
            <a:pPr marL="1828800" lvl="4" indent="0">
              <a:lnSpc>
                <a:spcPct val="100000"/>
              </a:lnSpc>
              <a:buNone/>
            </a:pPr>
            <a:r>
              <a:rPr lang="en-AU" sz="1400" dirty="0">
                <a:solidFill>
                  <a:schemeClr val="dk1"/>
                </a:solidFill>
              </a:rPr>
              <a:t>s</a:t>
            </a:r>
            <a:r>
              <a:rPr lang="en-AU" sz="1400" baseline="0" dirty="0">
                <a:solidFill>
                  <a:schemeClr val="dk1"/>
                </a:solidFill>
                <a:effectLst/>
                <a:latin typeface="+mn-lt"/>
                <a:ea typeface="+mn-ea"/>
                <a:cs typeface="+mn-cs"/>
              </a:rPr>
              <a:t>31+s41+s42 &gt;=2                        (</a:t>
            </a:r>
            <a:r>
              <a:rPr lang="en-IN" sz="1400" b="0" i="0" u="none" strike="noStrike" dirty="0">
                <a:solidFill>
                  <a:schemeClr val="dk1"/>
                </a:solidFill>
                <a:effectLst/>
                <a:latin typeface="+mn-lt"/>
                <a:ea typeface="+mn-ea"/>
                <a:cs typeface="+mn-cs"/>
              </a:rPr>
              <a:t>At least 2 stocks from the lowest-risk group</a:t>
            </a:r>
            <a:r>
              <a:rPr lang="en-AU" sz="1400" baseline="0" dirty="0">
                <a:solidFill>
                  <a:schemeClr val="dk1"/>
                </a:solidFill>
                <a:effectLst/>
                <a:latin typeface="+mn-lt"/>
                <a:ea typeface="+mn-ea"/>
                <a:cs typeface="+mn-cs"/>
              </a:rPr>
              <a:t>)</a:t>
            </a:r>
          </a:p>
          <a:p>
            <a:pPr marL="1828800" lvl="4" indent="0">
              <a:lnSpc>
                <a:spcPct val="100000"/>
              </a:lnSpc>
              <a:buNone/>
            </a:pPr>
            <a:r>
              <a:rPr lang="en-AU" sz="1400" dirty="0">
                <a:solidFill>
                  <a:schemeClr val="dk1"/>
                </a:solidFill>
              </a:rPr>
              <a:t>s</a:t>
            </a:r>
            <a:r>
              <a:rPr lang="en-AU" sz="1400" dirty="0">
                <a:solidFill>
                  <a:schemeClr val="dk1"/>
                </a:solidFill>
                <a:effectLst/>
                <a:latin typeface="+mn-lt"/>
                <a:ea typeface="+mn-ea"/>
                <a:cs typeface="+mn-cs"/>
              </a:rPr>
              <a:t>11+s12 &lt;= s21 +s22+s32</a:t>
            </a:r>
            <a:r>
              <a:rPr lang="en-AU" sz="1400" baseline="0" dirty="0">
                <a:solidFill>
                  <a:schemeClr val="dk1"/>
                </a:solidFill>
                <a:effectLst/>
                <a:latin typeface="+mn-lt"/>
                <a:ea typeface="+mn-ea"/>
                <a:cs typeface="+mn-cs"/>
              </a:rPr>
              <a:t>      ( </a:t>
            </a:r>
            <a:r>
              <a:rPr lang="en-IN" sz="1400" b="0" i="0" u="none" strike="noStrike" dirty="0">
                <a:solidFill>
                  <a:schemeClr val="dk1"/>
                </a:solidFill>
                <a:effectLst/>
                <a:latin typeface="+mn-lt"/>
                <a:ea typeface="+mn-ea"/>
                <a:cs typeface="+mn-cs"/>
              </a:rPr>
              <a:t>If any high-risk stock is selected, then at least one medium-risk</a:t>
            </a:r>
            <a:r>
              <a:rPr lang="en-IN" sz="1400" b="0" i="0" u="none" strike="noStrike" baseline="0" dirty="0">
                <a:solidFill>
                  <a:schemeClr val="dk1"/>
                </a:solidFill>
                <a:effectLst/>
                <a:latin typeface="+mn-lt"/>
                <a:ea typeface="+mn-ea"/>
                <a:cs typeface="+mn-cs"/>
              </a:rPr>
              <a:t> </a:t>
            </a:r>
            <a:r>
              <a:rPr lang="en-IN" sz="1400" b="0" i="0" u="none" strike="noStrike" dirty="0">
                <a:solidFill>
                  <a:schemeClr val="dk1"/>
                </a:solidFill>
                <a:effectLst/>
                <a:latin typeface="+mn-lt"/>
                <a:ea typeface="+mn-ea"/>
                <a:cs typeface="+mn-cs"/>
              </a:rPr>
              <a:t>stock selected </a:t>
            </a:r>
            <a:endParaRPr lang="en-AU" sz="1400" dirty="0">
              <a:solidFill>
                <a:schemeClr val="dk1"/>
              </a:solidFill>
              <a:effectLst/>
              <a:latin typeface="+mn-lt"/>
              <a:ea typeface="+mn-ea"/>
              <a:cs typeface="+mn-cs"/>
            </a:endParaRPr>
          </a:p>
          <a:p>
            <a:pPr marL="0" lvl="0" indent="0">
              <a:lnSpc>
                <a:spcPct val="115000"/>
              </a:lnSpc>
              <a:spcAft>
                <a:spcPts val="800"/>
              </a:spcAft>
              <a:buSzPts val="1000"/>
              <a:buNone/>
              <a:tabLst>
                <a:tab pos="457200" algn="l"/>
              </a:tabLst>
            </a:pPr>
            <a:endPar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98796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05558A-198F-4681-FD97-23E5F7D288F4}"/>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168864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51EAA9B0-FB96-D04F-1A3E-C88F0128246A}"/>
              </a:ext>
            </a:extLst>
          </p:cNvPr>
          <p:cNvSpPr txBox="1">
            <a:spLocks/>
          </p:cNvSpPr>
          <p:nvPr/>
        </p:nvSpPr>
        <p:spPr>
          <a:xfrm>
            <a:off x="1156851" y="637762"/>
            <a:ext cx="9888496" cy="90013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2800" b="1" kern="1200">
                <a:solidFill>
                  <a:schemeClr val="bg1"/>
                </a:solidFill>
                <a:latin typeface="+mj-lt"/>
                <a:ea typeface="+mj-ea"/>
                <a:cs typeface="+mj-cs"/>
              </a:rPr>
              <a:t>LP And ILP Model Comparison </a:t>
            </a:r>
            <a:br>
              <a:rPr lang="en-US" sz="2800" kern="1200">
                <a:solidFill>
                  <a:schemeClr val="bg1"/>
                </a:solidFill>
                <a:latin typeface="+mj-lt"/>
                <a:ea typeface="+mj-ea"/>
                <a:cs typeface="+mj-cs"/>
              </a:rPr>
            </a:br>
            <a:endParaRPr lang="en-US" sz="2800" kern="1200">
              <a:solidFill>
                <a:schemeClr val="bg1"/>
              </a:solidFill>
              <a:latin typeface="+mj-lt"/>
              <a:ea typeface="+mj-ea"/>
              <a:cs typeface="+mj-cs"/>
            </a:endParaRPr>
          </a:p>
        </p:txBody>
      </p:sp>
      <p:sp>
        <p:nvSpPr>
          <p:cNvPr id="61" name="Rectangle 6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215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05253BDA-214F-1354-A21C-B4696048EEFF}"/>
              </a:ext>
            </a:extLst>
          </p:cNvPr>
          <p:cNvSpPr>
            <a:spLocks noChangeArrowheads="1"/>
          </p:cNvSpPr>
          <p:nvPr/>
        </p:nvSpPr>
        <p:spPr bwMode="auto">
          <a:xfrm>
            <a:off x="8572499" y="390832"/>
            <a:ext cx="3233585" cy="8736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R="0" lvl="0" fontAlgn="base">
              <a:lnSpc>
                <a:spcPct val="90000"/>
              </a:lnSpc>
              <a:spcBef>
                <a:spcPts val="1000"/>
              </a:spcBef>
              <a:spcAft>
                <a:spcPct val="0"/>
              </a:spcAft>
              <a:buClrTx/>
              <a:buSzTx/>
              <a:tabLst/>
            </a:pPr>
            <a:endParaRPr kumimoji="0" lang="en-US" altLang="en-US" sz="2000" b="0" i="0" u="none" strike="noStrike" kern="1200" cap="none" normalizeH="0" baseline="0" dirty="0">
              <a:ln>
                <a:noFill/>
              </a:ln>
              <a:solidFill>
                <a:srgbClr val="FFFFFF"/>
              </a:solidFill>
              <a:effectLst/>
              <a:latin typeface="+mn-lt"/>
              <a:ea typeface="+mn-ea"/>
              <a:cs typeface="+mn-cs"/>
            </a:endParaRPr>
          </a:p>
        </p:txBody>
      </p:sp>
      <p:graphicFrame>
        <p:nvGraphicFramePr>
          <p:cNvPr id="5" name="Content Placeholder 4">
            <a:extLst>
              <a:ext uri="{FF2B5EF4-FFF2-40B4-BE49-F238E27FC236}">
                <a16:creationId xmlns:a16="http://schemas.microsoft.com/office/drawing/2014/main" id="{61D9054C-847E-6837-7531-23D4F17CE94C}"/>
              </a:ext>
            </a:extLst>
          </p:cNvPr>
          <p:cNvGraphicFramePr>
            <a:graphicFrameLocks noGrp="1"/>
          </p:cNvGraphicFramePr>
          <p:nvPr>
            <p:ph idx="1"/>
            <p:extLst>
              <p:ext uri="{D42A27DB-BD31-4B8C-83A1-F6EECF244321}">
                <p14:modId xmlns:p14="http://schemas.microsoft.com/office/powerpoint/2010/main" val="1706788266"/>
              </p:ext>
            </p:extLst>
          </p:nvPr>
        </p:nvGraphicFramePr>
        <p:xfrm>
          <a:off x="1302069" y="2261336"/>
          <a:ext cx="10081548" cy="4112961"/>
        </p:xfrm>
        <a:graphic>
          <a:graphicData uri="http://schemas.openxmlformats.org/drawingml/2006/table">
            <a:tbl>
              <a:tblPr firstRow="1" firstCol="1" bandRow="1">
                <a:noFill/>
                <a:tableStyleId>{3B4B98B0-60AC-42C2-AFA5-B58CD77FA1E5}</a:tableStyleId>
              </a:tblPr>
              <a:tblGrid>
                <a:gridCol w="1463115">
                  <a:extLst>
                    <a:ext uri="{9D8B030D-6E8A-4147-A177-3AD203B41FA5}">
                      <a16:colId xmlns:a16="http://schemas.microsoft.com/office/drawing/2014/main" val="2274519671"/>
                    </a:ext>
                  </a:extLst>
                </a:gridCol>
                <a:gridCol w="4310592">
                  <a:extLst>
                    <a:ext uri="{9D8B030D-6E8A-4147-A177-3AD203B41FA5}">
                      <a16:colId xmlns:a16="http://schemas.microsoft.com/office/drawing/2014/main" val="2104318640"/>
                    </a:ext>
                  </a:extLst>
                </a:gridCol>
                <a:gridCol w="4307841">
                  <a:extLst>
                    <a:ext uri="{9D8B030D-6E8A-4147-A177-3AD203B41FA5}">
                      <a16:colId xmlns:a16="http://schemas.microsoft.com/office/drawing/2014/main" val="3307786015"/>
                    </a:ext>
                  </a:extLst>
                </a:gridCol>
              </a:tblGrid>
              <a:tr h="371726">
                <a:tc>
                  <a:txBody>
                    <a:bodyPr/>
                    <a:lstStyle/>
                    <a:p>
                      <a:pPr algn="ctr">
                        <a:lnSpc>
                          <a:spcPct val="115000"/>
                        </a:lnSpc>
                        <a:spcAft>
                          <a:spcPts val="800"/>
                        </a:spcAft>
                        <a:buNone/>
                      </a:pPr>
                      <a:r>
                        <a:rPr lang="en-IN" sz="1200" b="1" kern="0">
                          <a:solidFill>
                            <a:schemeClr val="tx1">
                              <a:lumMod val="75000"/>
                              <a:lumOff val="25000"/>
                            </a:schemeClr>
                          </a:solidFill>
                          <a:effectLst/>
                          <a:latin typeface="Times New Roman" panose="02020603050405020304" pitchFamily="18" charset="0"/>
                          <a:cs typeface="Times New Roman" panose="02020603050405020304" pitchFamily="18" charset="0"/>
                        </a:rPr>
                        <a:t>Criteria</a:t>
                      </a:r>
                      <a:endParaRPr lang="en-IN" sz="1200" b="1"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68425" marT="68425" marB="68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800"/>
                        </a:spcAft>
                        <a:buNone/>
                      </a:pPr>
                      <a:r>
                        <a:rPr lang="en-IN" sz="1200" kern="0">
                          <a:solidFill>
                            <a:schemeClr val="tx1">
                              <a:lumMod val="75000"/>
                              <a:lumOff val="25000"/>
                            </a:schemeClr>
                          </a:solidFill>
                          <a:effectLst/>
                          <a:latin typeface="Times New Roman" panose="02020603050405020304" pitchFamily="18" charset="0"/>
                          <a:cs typeface="Times New Roman" panose="02020603050405020304" pitchFamily="18" charset="0"/>
                        </a:rPr>
                        <a:t>LP Model</a:t>
                      </a:r>
                      <a:endParaRPr lang="en-IN" sz="12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68425" marT="68425" marB="68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800"/>
                        </a:spcAft>
                        <a:buNone/>
                      </a:pPr>
                      <a:r>
                        <a:rPr lang="en-IN" sz="1200" kern="0">
                          <a:solidFill>
                            <a:schemeClr val="tx1">
                              <a:lumMod val="75000"/>
                              <a:lumOff val="25000"/>
                            </a:schemeClr>
                          </a:solidFill>
                          <a:effectLst/>
                          <a:latin typeface="Times New Roman" panose="02020603050405020304" pitchFamily="18" charset="0"/>
                          <a:cs typeface="Times New Roman" panose="02020603050405020304" pitchFamily="18" charset="0"/>
                        </a:rPr>
                        <a:t>ILP Model (Select 5 Stocks)</a:t>
                      </a:r>
                      <a:endParaRPr lang="en-IN" sz="12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68425" marT="68425" marB="68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9509183"/>
                  </a:ext>
                </a:extLst>
              </a:tr>
              <a:tr h="296523">
                <a:tc>
                  <a:txBody>
                    <a:bodyPr/>
                    <a:lstStyle/>
                    <a:p>
                      <a:pPr>
                        <a:lnSpc>
                          <a:spcPct val="115000"/>
                        </a:lnSpc>
                        <a:spcAft>
                          <a:spcPts val="800"/>
                        </a:spcAft>
                        <a:buNone/>
                      </a:pPr>
                      <a:r>
                        <a:rPr lang="en-IN" sz="800" b="1" kern="0">
                          <a:solidFill>
                            <a:schemeClr val="tx1">
                              <a:lumMod val="75000"/>
                              <a:lumOff val="25000"/>
                            </a:schemeClr>
                          </a:solidFill>
                          <a:effectLst/>
                          <a:latin typeface="Times New Roman" panose="02020603050405020304" pitchFamily="18" charset="0"/>
                          <a:cs typeface="Times New Roman" panose="02020603050405020304" pitchFamily="18" charset="0"/>
                        </a:rPr>
                        <a:t>Portfolio Composition</a:t>
                      </a:r>
                      <a:endParaRPr lang="en-IN" sz="800" b="1"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All 8 stocks included (each ≥5%) – very broad diversification.</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5 best stocks selected; 3 stocks excluded entirely. Focused allocation.</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694342112"/>
                  </a:ext>
                </a:extLst>
              </a:tr>
              <a:tr h="448640">
                <a:tc>
                  <a:txBody>
                    <a:bodyPr/>
                    <a:lstStyle/>
                    <a:p>
                      <a:pPr>
                        <a:lnSpc>
                          <a:spcPct val="115000"/>
                        </a:lnSpc>
                        <a:spcAft>
                          <a:spcPts val="800"/>
                        </a:spcAft>
                        <a:buNone/>
                      </a:pPr>
                      <a:r>
                        <a:rPr lang="en-IN" sz="800" b="1" kern="0" dirty="0">
                          <a:solidFill>
                            <a:schemeClr val="tx1">
                              <a:lumMod val="75000"/>
                              <a:lumOff val="25000"/>
                            </a:schemeClr>
                          </a:solidFill>
                          <a:effectLst/>
                          <a:latin typeface="Times New Roman" panose="02020603050405020304" pitchFamily="18" charset="0"/>
                          <a:cs typeface="Times New Roman" panose="02020603050405020304" pitchFamily="18" charset="0"/>
                        </a:rPr>
                        <a:t>Weight Distribution</a:t>
                      </a:r>
                      <a:endParaRPr lang="en-IN" sz="800" b="1" kern="1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Uneven weights (from 5% up to 50%). One stock (SUN) got half the portfolio; others at min share.</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Equal 20% per selected stock (by design). No single stock over 20%.</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842621349"/>
                  </a:ext>
                </a:extLst>
              </a:tr>
              <a:tr h="448640">
                <a:tc>
                  <a:txBody>
                    <a:bodyPr/>
                    <a:lstStyle/>
                    <a:p>
                      <a:pPr>
                        <a:lnSpc>
                          <a:spcPct val="115000"/>
                        </a:lnSpc>
                        <a:spcAft>
                          <a:spcPts val="800"/>
                        </a:spcAft>
                        <a:buNone/>
                      </a:pPr>
                      <a:r>
                        <a:rPr lang="en-IN" sz="800" b="1" kern="0">
                          <a:solidFill>
                            <a:schemeClr val="tx1">
                              <a:lumMod val="75000"/>
                              <a:lumOff val="25000"/>
                            </a:schemeClr>
                          </a:solidFill>
                          <a:effectLst/>
                          <a:latin typeface="Times New Roman" panose="02020603050405020304" pitchFamily="18" charset="0"/>
                          <a:cs typeface="Times New Roman" panose="02020603050405020304" pitchFamily="18" charset="0"/>
                        </a:rPr>
                        <a:t>Return Achieved</a:t>
                      </a:r>
                      <a:endParaRPr lang="en-IN" sz="800" b="1"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dirty="0">
                          <a:solidFill>
                            <a:schemeClr val="tx1">
                              <a:lumMod val="75000"/>
                              <a:lumOff val="25000"/>
                            </a:schemeClr>
                          </a:solidFill>
                          <a:effectLst/>
                          <a:latin typeface="Times New Roman" panose="02020603050405020304" pitchFamily="18" charset="0"/>
                          <a:cs typeface="Times New Roman" panose="02020603050405020304" pitchFamily="18" charset="0"/>
                        </a:rPr>
                        <a:t>Total return 1.67% Lower return due to constraints forcing some low-return investments.</a:t>
                      </a:r>
                      <a:endParaRPr lang="en-IN" sz="800" kern="1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dirty="0">
                          <a:solidFill>
                            <a:schemeClr val="tx1">
                              <a:lumMod val="75000"/>
                              <a:lumOff val="25000"/>
                            </a:schemeClr>
                          </a:solidFill>
                          <a:effectLst/>
                          <a:latin typeface="Times New Roman" panose="02020603050405020304" pitchFamily="18" charset="0"/>
                          <a:cs typeface="Times New Roman" panose="02020603050405020304" pitchFamily="18" charset="0"/>
                        </a:rPr>
                        <a:t>The Total return 9.48% Significantly higher overall return by concentrating on higher-return assets.</a:t>
                      </a:r>
                      <a:endParaRPr lang="en-IN" sz="800" kern="1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3058844837"/>
                  </a:ext>
                </a:extLst>
              </a:tr>
              <a:tr h="448640">
                <a:tc>
                  <a:txBody>
                    <a:bodyPr/>
                    <a:lstStyle/>
                    <a:p>
                      <a:pPr>
                        <a:lnSpc>
                          <a:spcPct val="115000"/>
                        </a:lnSpc>
                        <a:spcAft>
                          <a:spcPts val="800"/>
                        </a:spcAft>
                        <a:buNone/>
                      </a:pPr>
                      <a:r>
                        <a:rPr lang="en-IN" sz="800" b="1" kern="0">
                          <a:solidFill>
                            <a:schemeClr val="tx1">
                              <a:lumMod val="75000"/>
                              <a:lumOff val="25000"/>
                            </a:schemeClr>
                          </a:solidFill>
                          <a:effectLst/>
                          <a:latin typeface="Times New Roman" panose="02020603050405020304" pitchFamily="18" charset="0"/>
                          <a:cs typeface="Times New Roman" panose="02020603050405020304" pitchFamily="18" charset="0"/>
                        </a:rPr>
                        <a:t>Risk Profile</a:t>
                      </a:r>
                      <a:endParaRPr lang="en-IN" sz="800" b="1"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Very conservative: 65% in low-risk assets (R1), only 15% in high-risk (R3). Satisfies R1 ≥ R2,R3 by wide margin.</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Moderately conservative: contains an R3 stock (20% of portfolio) but also two R1 stocks (40%). Satisfies all risk rules with a balanced mix.</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2580393782"/>
                  </a:ext>
                </a:extLst>
              </a:tr>
              <a:tr h="448640">
                <a:tc>
                  <a:txBody>
                    <a:bodyPr/>
                    <a:lstStyle/>
                    <a:p>
                      <a:pPr>
                        <a:lnSpc>
                          <a:spcPct val="115000"/>
                        </a:lnSpc>
                        <a:spcAft>
                          <a:spcPts val="800"/>
                        </a:spcAft>
                        <a:buNone/>
                      </a:pPr>
                      <a:r>
                        <a:rPr lang="en-IN" sz="800" b="1" kern="0">
                          <a:solidFill>
                            <a:schemeClr val="tx1">
                              <a:lumMod val="75000"/>
                              <a:lumOff val="25000"/>
                            </a:schemeClr>
                          </a:solidFill>
                          <a:effectLst/>
                          <a:latin typeface="Times New Roman" panose="02020603050405020304" pitchFamily="18" charset="0"/>
                          <a:cs typeface="Times New Roman" panose="02020603050405020304" pitchFamily="18" charset="0"/>
                        </a:rPr>
                        <a:t>Sector Allocation</a:t>
                      </a:r>
                      <a:endParaRPr lang="en-IN" sz="800" b="1"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Each of 4 sectors ≥15% (met exactly for 3 sectors; Financials 55%). Ensures broad sector coverage but heavy tilt to Financials.</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All 4 sectors represented (min 1 stock each). Financials ended 40% (2 stocks). Sector diversity maintained, though not equal (one sector doubled).</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837575801"/>
                  </a:ext>
                </a:extLst>
              </a:tr>
              <a:tr h="448640">
                <a:tc>
                  <a:txBody>
                    <a:bodyPr/>
                    <a:lstStyle/>
                    <a:p>
                      <a:pPr>
                        <a:lnSpc>
                          <a:spcPct val="115000"/>
                        </a:lnSpc>
                        <a:spcAft>
                          <a:spcPts val="800"/>
                        </a:spcAft>
                        <a:buNone/>
                      </a:pPr>
                      <a:r>
                        <a:rPr lang="en-IN" sz="800" b="1" kern="0">
                          <a:solidFill>
                            <a:schemeClr val="tx1">
                              <a:lumMod val="75000"/>
                              <a:lumOff val="25000"/>
                            </a:schemeClr>
                          </a:solidFill>
                          <a:effectLst/>
                          <a:latin typeface="Times New Roman" panose="02020603050405020304" pitchFamily="18" charset="0"/>
                          <a:cs typeface="Times New Roman" panose="02020603050405020304" pitchFamily="18" charset="0"/>
                        </a:rPr>
                        <a:t>Model Nature</a:t>
                      </a:r>
                      <a:endParaRPr lang="en-IN" sz="800" b="1"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Linear programming (fractional decisions). Solution tends to spread across many assets due to minimum constraints.</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Mixed-integer programming (discrete choices). Solution picks a limited set of assets for a higher return focus.</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594119003"/>
                  </a:ext>
                </a:extLst>
              </a:tr>
              <a:tr h="600756">
                <a:tc>
                  <a:txBody>
                    <a:bodyPr/>
                    <a:lstStyle/>
                    <a:p>
                      <a:pPr>
                        <a:lnSpc>
                          <a:spcPct val="115000"/>
                        </a:lnSpc>
                        <a:spcAft>
                          <a:spcPts val="800"/>
                        </a:spcAft>
                        <a:buNone/>
                      </a:pPr>
                      <a:r>
                        <a:rPr lang="en-IN" sz="800" b="1" kern="0">
                          <a:solidFill>
                            <a:schemeClr val="tx1">
                              <a:lumMod val="75000"/>
                              <a:lumOff val="25000"/>
                            </a:schemeClr>
                          </a:solidFill>
                          <a:effectLst/>
                          <a:latin typeface="Times New Roman" panose="02020603050405020304" pitchFamily="18" charset="0"/>
                          <a:cs typeface="Times New Roman" panose="02020603050405020304" pitchFamily="18" charset="0"/>
                        </a:rPr>
                        <a:t>Advantages</a:t>
                      </a:r>
                      <a:endParaRPr lang="en-IN" sz="800" b="1"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Highly diversified -&gt; reduces unsystematic risk. Fulfills all diversification criteria strictly. Straightforward to implement mean–return optimization in LP.</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a:solidFill>
                            <a:schemeClr val="tx1">
                              <a:lumMod val="75000"/>
                              <a:lumOff val="25000"/>
                            </a:schemeClr>
                          </a:solidFill>
                          <a:effectLst/>
                          <a:latin typeface="Times New Roman" panose="02020603050405020304" pitchFamily="18" charset="0"/>
                          <a:cs typeface="Times New Roman" panose="02020603050405020304" pitchFamily="18" charset="0"/>
                        </a:rPr>
                        <a:t>Higher return potential by skipping less attractive assets. Simpler portfolio to manage (only 5 stocks). Respects diversification in a broader sense (all sectors, risk mix) without over-diluting returns.</a:t>
                      </a:r>
                      <a:endParaRPr lang="en-IN" sz="800" kern="10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3058864650"/>
                  </a:ext>
                </a:extLst>
              </a:tr>
              <a:tr h="600756">
                <a:tc>
                  <a:txBody>
                    <a:bodyPr/>
                    <a:lstStyle/>
                    <a:p>
                      <a:pPr>
                        <a:lnSpc>
                          <a:spcPct val="115000"/>
                        </a:lnSpc>
                        <a:spcAft>
                          <a:spcPts val="800"/>
                        </a:spcAft>
                        <a:buNone/>
                      </a:pPr>
                      <a:r>
                        <a:rPr lang="en-IN" sz="800" b="1" kern="0" dirty="0">
                          <a:solidFill>
                            <a:schemeClr val="tx1">
                              <a:lumMod val="75000"/>
                              <a:lumOff val="25000"/>
                            </a:schemeClr>
                          </a:solidFill>
                          <a:effectLst/>
                          <a:latin typeface="Times New Roman" panose="02020603050405020304" pitchFamily="18" charset="0"/>
                          <a:cs typeface="Times New Roman" panose="02020603050405020304" pitchFamily="18" charset="0"/>
                        </a:rPr>
                        <a:t>Disadvantages</a:t>
                      </a:r>
                      <a:endParaRPr lang="en-IN" sz="800" b="1" kern="1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20000"/>
                      </a:srgbClr>
                    </a:solidFill>
                  </a:tcPr>
                </a:tc>
                <a:tc>
                  <a:txBody>
                    <a:bodyPr/>
                    <a:lstStyle/>
                    <a:p>
                      <a:pPr>
                        <a:lnSpc>
                          <a:spcPct val="115000"/>
                        </a:lnSpc>
                        <a:spcAft>
                          <a:spcPts val="800"/>
                        </a:spcAft>
                        <a:buNone/>
                      </a:pPr>
                      <a:r>
                        <a:rPr lang="en-IN" sz="800" kern="0" dirty="0">
                          <a:solidFill>
                            <a:schemeClr val="tx1">
                              <a:lumMod val="75000"/>
                              <a:lumOff val="25000"/>
                            </a:schemeClr>
                          </a:solidFill>
                          <a:effectLst/>
                          <a:latin typeface="Times New Roman" panose="02020603050405020304" pitchFamily="18" charset="0"/>
                          <a:cs typeface="Times New Roman" panose="02020603050405020304" pitchFamily="18" charset="0"/>
                        </a:rPr>
                        <a:t>Lower return : includes some low-yield stocks due to constraints (mandatory minimums). Over-diversification: every asset gets a piece even if not optimal.</a:t>
                      </a:r>
                      <a:endParaRPr lang="en-IN" sz="800" kern="1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tc>
                  <a:txBody>
                    <a:bodyPr/>
                    <a:lstStyle/>
                    <a:p>
                      <a:pPr>
                        <a:lnSpc>
                          <a:spcPct val="115000"/>
                        </a:lnSpc>
                        <a:spcAft>
                          <a:spcPts val="800"/>
                        </a:spcAft>
                        <a:buNone/>
                      </a:pPr>
                      <a:r>
                        <a:rPr lang="en-IN" sz="800" kern="0" dirty="0">
                          <a:solidFill>
                            <a:schemeClr val="tx1">
                              <a:lumMod val="75000"/>
                              <a:lumOff val="25000"/>
                            </a:schemeClr>
                          </a:solidFill>
                          <a:effectLst/>
                          <a:latin typeface="Times New Roman" panose="02020603050405020304" pitchFamily="18" charset="0"/>
                          <a:cs typeface="Times New Roman" panose="02020603050405020304" pitchFamily="18" charset="0"/>
                        </a:rPr>
                        <a:t>Less diversification : higher specific risk (fewer stocks). Needs integer programming (more complex solving). Excludes some sectors’ secondary picks entirely (no minor positions as in LP).</a:t>
                      </a:r>
                      <a:endParaRPr lang="en-IN" sz="800" kern="1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114042" marR="59302" marT="59302" marB="59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BCBE">
                        <a:alpha val="34902"/>
                      </a:srgbClr>
                    </a:solidFill>
                  </a:tcPr>
                </a:tc>
                <a:extLst>
                  <a:ext uri="{0D108BD9-81ED-4DB2-BD59-A6C34878D82A}">
                    <a16:rowId xmlns:a16="http://schemas.microsoft.com/office/drawing/2014/main" val="3166218401"/>
                  </a:ext>
                </a:extLst>
              </a:tr>
            </a:tbl>
          </a:graphicData>
        </a:graphic>
      </p:graphicFrame>
    </p:spTree>
    <p:extLst>
      <p:ext uri="{BB962C8B-B14F-4D97-AF65-F5344CB8AC3E}">
        <p14:creationId xmlns:p14="http://schemas.microsoft.com/office/powerpoint/2010/main" val="4162802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B3ADA4-8AC3-A327-CBF5-25B16CD000C3}"/>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619D009E-2BB2-C752-CB42-D43FAB63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707334-EC8C-A2F7-3128-B6237A69AEF9}"/>
              </a:ext>
            </a:extLst>
          </p:cNvPr>
          <p:cNvSpPr>
            <a:spLocks noGrp="1"/>
          </p:cNvSpPr>
          <p:nvPr>
            <p:ph type="title"/>
          </p:nvPr>
        </p:nvSpPr>
        <p:spPr>
          <a:xfrm>
            <a:off x="1156851" y="637762"/>
            <a:ext cx="9888496" cy="1520377"/>
          </a:xfrm>
        </p:spPr>
        <p:txBody>
          <a:bodyPr anchor="ctr">
            <a:normAutofit/>
          </a:bodyPr>
          <a:lstStyle/>
          <a:p>
            <a:r>
              <a:rPr lang="en-IN" sz="32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Preferred Strategy &amp; Rationale</a:t>
            </a:r>
            <a:endParaRPr lang="en-US" sz="6600" dirty="0">
              <a:solidFill>
                <a:schemeClr val="bg1"/>
              </a:solidFill>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390B94C4-DB60-6B62-2D5A-ED720657E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5370459-D23E-D558-F050-4FE076EC6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144583DE-9CDB-AF4E-0808-E70A3F1AA285}"/>
              </a:ext>
            </a:extLst>
          </p:cNvPr>
          <p:cNvSpPr>
            <a:spLocks noGrp="1"/>
          </p:cNvSpPr>
          <p:nvPr>
            <p:ph idx="1"/>
          </p:nvPr>
        </p:nvSpPr>
        <p:spPr>
          <a:xfrm>
            <a:off x="332907" y="2996439"/>
            <a:ext cx="11859093" cy="3315779"/>
          </a:xfrm>
        </p:spPr>
        <p:txBody>
          <a:bodyPr>
            <a:noAutofit/>
          </a:bodyPr>
          <a:lstStyle/>
          <a:p>
            <a:pPr marL="342900" lvl="0" indent="-342900">
              <a:lnSpc>
                <a:spcPct val="115000"/>
              </a:lnSpc>
              <a:spcAft>
                <a:spcPts val="800"/>
              </a:spcAft>
              <a:buSzPts val="1000"/>
              <a:buFont typeface="Symbol" pitchFamily="2" charset="2"/>
              <a:buChar char=""/>
              <a:tabLst>
                <a:tab pos="457200" algn="l"/>
              </a:tabLst>
            </a:pP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Preferred Model:</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a:t>
            </a: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ILP-based strategy (selective portfolio)</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preferred for this investment scenario, because it yields a markedly higher return while still respecting essential risk diversification guidelines.</a:t>
            </a:r>
            <a:endParaRPr lang="en-IN"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Rationale:</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ILP portfolio achieved  9.48% return compared to the LP’s 1.67% monthly . This improvement is because the ILP model was free to </a:t>
            </a: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exclude low-return assets</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By allowing zero-weight holdings, the ILP model avoids investing in assets that would dilute returns through over-diversification. It focuses capital on a curated set of high-performing stocks, which is a more effective use of risk budget.</a:t>
            </a:r>
            <a:endParaRPr lang="en-IN"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Diversification vs Performance:</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LP approach might be suitable for an extremely risk-averse mandate (where every possible asset must be held to spread risk). However, in most practical cases, holding a subset of assets can achieve adequate diversification. The ILP’s constraints (≥1 per sector, etc.) ensured the portfolio is not overly concentrated or one-dimensional. Therefore, the ILP strikes a better balance: it diversifies across key sectors and risk bands </a:t>
            </a:r>
            <a:r>
              <a:rPr lang="en-IN" sz="1400" i="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without</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unnecessarily sacrificing return.</a:t>
            </a:r>
            <a:endParaRPr lang="en-IN"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Conclusion on Strategy:</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ILP model demonstrates that a </a:t>
            </a:r>
            <a:r>
              <a:rPr lang="en-IN" sz="1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constrained stock selection approach</a:t>
            </a: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can lead to a superior efficient portfolio. It delivers a higher expected return for the given risk constraints, which is typically the investor’s goal. Thus, the ILP portfolio is the recommended investment strategy out of the two.</a:t>
            </a:r>
            <a:endParaRPr lang="en-IN"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96018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a:extLst>
            <a:ext uri="{FF2B5EF4-FFF2-40B4-BE49-F238E27FC236}">
              <a16:creationId xmlns:a16="http://schemas.microsoft.com/office/drawing/2014/main" id="{D66681CA-6392-8D43-0606-8D3FABD4AC71}"/>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238357F-67F1-5258-45BC-173BAA17DEA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kern="1200">
                <a:solidFill>
                  <a:schemeClr val="tx1"/>
                </a:solidFill>
                <a:effectLst/>
                <a:latin typeface="+mj-lt"/>
                <a:ea typeface="+mj-ea"/>
                <a:cs typeface="+mj-cs"/>
              </a:rPr>
              <a:t>Conclusion </a:t>
            </a:r>
            <a:endParaRPr lang="en-US" kern="1200">
              <a:solidFill>
                <a:schemeClr val="tx1"/>
              </a:solidFill>
              <a:latin typeface="+mj-lt"/>
              <a:ea typeface="+mj-ea"/>
              <a:cs typeface="+mj-cs"/>
            </a:endParaRPr>
          </a:p>
        </p:txBody>
      </p:sp>
      <p:sp>
        <p:nvSpPr>
          <p:cNvPr id="7" name="Content Placeholder 6">
            <a:extLst>
              <a:ext uri="{FF2B5EF4-FFF2-40B4-BE49-F238E27FC236}">
                <a16:creationId xmlns:a16="http://schemas.microsoft.com/office/drawing/2014/main" id="{8B9A17A3-E7B9-B748-B003-B4A6FA3841C9}"/>
              </a:ext>
            </a:extLst>
          </p:cNvPr>
          <p:cNvSpPr>
            <a:spLocks noGrp="1"/>
          </p:cNvSpPr>
          <p:nvPr>
            <p:ph idx="1"/>
          </p:nvPr>
        </p:nvSpPr>
        <p:spPr>
          <a:xfrm>
            <a:off x="999066" y="2077208"/>
            <a:ext cx="5096934" cy="4166130"/>
          </a:xfrm>
        </p:spPr>
        <p:txBody>
          <a:bodyPr vert="horz" lIns="91440" tIns="45720" rIns="91440" bIns="45720" rtlCol="0">
            <a:normAutofit/>
          </a:bodyPr>
          <a:lstStyle/>
          <a:p>
            <a:pPr marL="342900" lvl="0">
              <a:spcAft>
                <a:spcPts val="800"/>
              </a:spcAft>
              <a:buSzPts val="1000"/>
              <a:tabLst>
                <a:tab pos="457200" algn="l"/>
              </a:tabLst>
            </a:pPr>
            <a:r>
              <a:rPr lang="en-US" sz="1300" dirty="0">
                <a:effectLst/>
              </a:rPr>
              <a:t>In this assignment, we formulated two models to optimize an investment portfolio and learned how different constraints impact the outcome:</a:t>
            </a:r>
          </a:p>
          <a:p>
            <a:pPr marL="742950" lvl="1">
              <a:spcAft>
                <a:spcPts val="800"/>
              </a:spcAft>
              <a:buSzPts val="1000"/>
              <a:tabLst>
                <a:tab pos="914400" algn="l"/>
              </a:tabLst>
            </a:pPr>
            <a:r>
              <a:rPr lang="en-US" sz="1300" dirty="0">
                <a:effectLst/>
              </a:rPr>
              <a:t>The </a:t>
            </a:r>
            <a:r>
              <a:rPr lang="en-US" sz="1300" b="1" dirty="0">
                <a:effectLst/>
              </a:rPr>
              <a:t>LP model</a:t>
            </a:r>
            <a:r>
              <a:rPr lang="en-US" sz="1300" dirty="0">
                <a:effectLst/>
              </a:rPr>
              <a:t> gave a highly diversified portfolio that strictly adhered to all imposed limits but achieved only a modest return. It highlighted the effect of tight constraints – many were binding, indicating the portfolio was pushed to the edges of the requirements (e.g., every sector got the minimum allowed, high-risk was capped, etc.). This model emphasizes capital preservation and broad exposure.</a:t>
            </a:r>
          </a:p>
          <a:p>
            <a:pPr marL="742950" lvl="1">
              <a:spcAft>
                <a:spcPts val="800"/>
              </a:spcAft>
              <a:buSzPts val="1000"/>
              <a:tabLst>
                <a:tab pos="914400" algn="l"/>
              </a:tabLst>
            </a:pPr>
            <a:r>
              <a:rPr lang="en-US" sz="1300" dirty="0">
                <a:effectLst/>
              </a:rPr>
              <a:t>The </a:t>
            </a:r>
            <a:r>
              <a:rPr lang="en-US" sz="1300" b="1" dirty="0">
                <a:effectLst/>
              </a:rPr>
              <a:t>ILP model</a:t>
            </a:r>
            <a:r>
              <a:rPr lang="en-US" sz="1300" dirty="0">
                <a:effectLst/>
              </a:rPr>
              <a:t> provided a clearer view of which assets truly add value. By selecting only 5 stocks, it essentially performed a filtered optimization, leading to a much higher return while still managing risk. This showed the benefit of </a:t>
            </a:r>
            <a:r>
              <a:rPr lang="en-US" sz="1300" b="1" dirty="0">
                <a:effectLst/>
              </a:rPr>
              <a:t>relaxing the diversification at the individual asset level</a:t>
            </a:r>
            <a:r>
              <a:rPr lang="en-US" sz="1300" dirty="0">
                <a:effectLst/>
              </a:rPr>
              <a:t> (as opposed to at category level) – we don’t need to hold every stock to be diversified.</a:t>
            </a:r>
          </a:p>
          <a:p>
            <a:pPr marL="342900" lvl="0">
              <a:spcAft>
                <a:spcPts val="800"/>
              </a:spcAft>
              <a:buSzPts val="1000"/>
              <a:tabLst>
                <a:tab pos="457200" algn="l"/>
              </a:tabLst>
            </a:pPr>
            <a:endParaRPr lang="en-US" sz="1300" dirty="0">
              <a:effectLst/>
            </a:endParaRPr>
          </a:p>
        </p:txBody>
      </p:sp>
      <p:sp>
        <p:nvSpPr>
          <p:cNvPr id="3" name="Content Placeholder 6">
            <a:extLst>
              <a:ext uri="{FF2B5EF4-FFF2-40B4-BE49-F238E27FC236}">
                <a16:creationId xmlns:a16="http://schemas.microsoft.com/office/drawing/2014/main" id="{5221CE44-62D4-8AA5-DD83-B9D5B9C98ACF}"/>
              </a:ext>
            </a:extLst>
          </p:cNvPr>
          <p:cNvSpPr txBox="1">
            <a:spLocks/>
          </p:cNvSpPr>
          <p:nvPr/>
        </p:nvSpPr>
        <p:spPr>
          <a:xfrm>
            <a:off x="6256866" y="2010833"/>
            <a:ext cx="5096933" cy="4166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a:spcAft>
                <a:spcPts val="800"/>
              </a:spcAft>
              <a:buSzPts val="1000"/>
              <a:tabLst>
                <a:tab pos="457200" algn="l"/>
              </a:tabLst>
            </a:pPr>
            <a:r>
              <a:rPr lang="en-US" sz="1300" b="1">
                <a:effectLst/>
              </a:rPr>
              <a:t>Key Insights:</a:t>
            </a:r>
            <a:r>
              <a:rPr lang="en-US" sz="1300">
                <a:effectLst/>
              </a:rPr>
              <a:t> Optimal solutions depend heavily on constraints:</a:t>
            </a:r>
          </a:p>
          <a:p>
            <a:pPr marL="742950" lvl="1">
              <a:spcAft>
                <a:spcPts val="800"/>
              </a:spcAft>
              <a:buSzPts val="1000"/>
              <a:tabLst>
                <a:tab pos="914400" algn="l"/>
              </a:tabLst>
            </a:pPr>
            <a:r>
              <a:rPr lang="en-US" sz="1300">
                <a:effectLst/>
              </a:rPr>
              <a:t>Forcing small allocations to all assets (as in LP) ensures no single asset can hurt the portfolio much, but it also ensures many low-return contributors drag the average down. This is a cautious strategy suitable for risk minimisation but not return maximisation.</a:t>
            </a:r>
          </a:p>
          <a:p>
            <a:pPr marL="742950" lvl="1">
              <a:spcAft>
                <a:spcPts val="800"/>
              </a:spcAft>
              <a:buSzPts val="1000"/>
              <a:tabLst>
                <a:tab pos="914400" algn="l"/>
              </a:tabLst>
            </a:pPr>
            <a:r>
              <a:rPr lang="en-US" sz="1300">
                <a:effectLst/>
              </a:rPr>
              <a:t>Allowing the model to drop assets (as in ILP) can greatly enhance performance, as seen by the ILP’s use of only the best assets. Proper constraints (sector, risk group requirements) are crucial to prevent the ILP from chasing return with an undiversified or overly risky set of picks.</a:t>
            </a:r>
          </a:p>
          <a:p>
            <a:pPr marL="742950" lvl="1">
              <a:spcAft>
                <a:spcPts val="800"/>
              </a:spcAft>
              <a:buSzPts val="1000"/>
              <a:tabLst>
                <a:tab pos="914400" algn="l"/>
              </a:tabLst>
            </a:pPr>
            <a:r>
              <a:rPr lang="en-US" sz="1300" b="1">
                <a:effectLst/>
              </a:rPr>
              <a:t>Sensitivity analysis</a:t>
            </a:r>
            <a:r>
              <a:rPr lang="en-US" sz="1300">
                <a:effectLst/>
              </a:rPr>
              <a:t> of the LP model revealed which constraints “cost” the most in terms of forgone return (e.g., the high-risk limit). This kind of insight is valuable; if an investor’s risk tolerance increased, relaxing certain constraints could noticeably improve returns. Conversely, it showed that some constraints (like requiring low-risk dominance) were not actually limiting the LP solution (it naturally favoured low-risk heavily).</a:t>
            </a:r>
          </a:p>
        </p:txBody>
      </p:sp>
    </p:spTree>
    <p:extLst>
      <p:ext uri="{BB962C8B-B14F-4D97-AF65-F5344CB8AC3E}">
        <p14:creationId xmlns:p14="http://schemas.microsoft.com/office/powerpoint/2010/main" val="3305190189"/>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a:extLst>
            <a:ext uri="{FF2B5EF4-FFF2-40B4-BE49-F238E27FC236}">
              <a16:creationId xmlns:a16="http://schemas.microsoft.com/office/drawing/2014/main" id="{1D96C0E2-1C15-8411-55E1-8D457D55AA74}"/>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6E843F2E-1FB2-53D0-00F6-60F125D483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13">
            <a:extLst>
              <a:ext uri="{FF2B5EF4-FFF2-40B4-BE49-F238E27FC236}">
                <a16:creationId xmlns:a16="http://schemas.microsoft.com/office/drawing/2014/main" id="{6F6CFA39-EC77-24F3-BEF9-FBECE41A10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11">
            <a:extLst>
              <a:ext uri="{FF2B5EF4-FFF2-40B4-BE49-F238E27FC236}">
                <a16:creationId xmlns:a16="http://schemas.microsoft.com/office/drawing/2014/main" id="{33BEFA69-3916-24E8-BE51-59333E46E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342019F-49F2-5FC4-1558-9FEA695215E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kern="1200" dirty="0">
                <a:solidFill>
                  <a:schemeClr val="tx1"/>
                </a:solidFill>
                <a:effectLst/>
                <a:latin typeface="+mj-lt"/>
                <a:ea typeface="+mj-ea"/>
                <a:cs typeface="+mj-cs"/>
              </a:rPr>
              <a:t>Conclusion </a:t>
            </a:r>
            <a:endParaRPr lang="en-US" kern="1200" dirty="0">
              <a:solidFill>
                <a:schemeClr val="tx1"/>
              </a:solidFill>
              <a:latin typeface="+mj-lt"/>
              <a:ea typeface="+mj-ea"/>
              <a:cs typeface="+mj-cs"/>
            </a:endParaRPr>
          </a:p>
        </p:txBody>
      </p:sp>
      <p:sp>
        <p:nvSpPr>
          <p:cNvPr id="6" name="Content Placeholder 6">
            <a:extLst>
              <a:ext uri="{FF2B5EF4-FFF2-40B4-BE49-F238E27FC236}">
                <a16:creationId xmlns:a16="http://schemas.microsoft.com/office/drawing/2014/main" id="{C9A0DE79-F2F5-BE95-81FF-DC46AC26EA23}"/>
              </a:ext>
            </a:extLst>
          </p:cNvPr>
          <p:cNvSpPr>
            <a:spLocks noGrp="1"/>
          </p:cNvSpPr>
          <p:nvPr>
            <p:ph idx="1"/>
          </p:nvPr>
        </p:nvSpPr>
        <p:spPr>
          <a:xfrm>
            <a:off x="1392667" y="2398957"/>
            <a:ext cx="9406666" cy="3526144"/>
          </a:xfrm>
        </p:spPr>
        <p:txBody>
          <a:bodyPr>
            <a:normAutofit/>
          </a:bodyPr>
          <a:lstStyle/>
          <a:p>
            <a:pPr marL="342900" lvl="0" indent="-342900">
              <a:buSzPts val="1000"/>
              <a:buFont typeface="Symbol" pitchFamily="2" charset="2"/>
              <a:buChar char=""/>
              <a:tabLst>
                <a:tab pos="457200" algn="l"/>
              </a:tabLst>
            </a:pPr>
            <a:r>
              <a:rPr lang="en-IN" sz="1700" b="1" dirty="0">
                <a:effectLst/>
                <a:latin typeface="Times New Roman" panose="02020603050405020304" pitchFamily="18" charset="0"/>
                <a:ea typeface="Times New Roman" panose="02020603050405020304" pitchFamily="18" charset="0"/>
              </a:rPr>
              <a:t>Recommended Action:</a:t>
            </a:r>
            <a:r>
              <a:rPr lang="en-IN" sz="1700" dirty="0">
                <a:effectLst/>
                <a:latin typeface="Times New Roman" panose="02020603050405020304" pitchFamily="18" charset="0"/>
                <a:ea typeface="Times New Roman" panose="02020603050405020304" pitchFamily="18" charset="0"/>
              </a:rPr>
              <a:t> For an investor with moderate risk tolerance, the ILP portfolio is the more efficient choice. It achieves a better return for the risk and meets all policy constraints (diversification across sectors and risk categories). The analysis underscores that thoughtful constraint design and model selection (LP vs ILP) can lead to very different portfolio recommendations. In practice, a combination of these approaches might be used: start with a broad LP for insight, then apply integer constraints to fine-tune the selection for better performance.</a:t>
            </a:r>
          </a:p>
          <a:p>
            <a:pPr marL="342900" lvl="0" indent="-342900">
              <a:buSzPts val="1000"/>
              <a:buFont typeface="Symbol" pitchFamily="2" charset="2"/>
              <a:buChar char=""/>
              <a:tabLst>
                <a:tab pos="457200" algn="l"/>
              </a:tabLst>
            </a:pPr>
            <a:r>
              <a:rPr lang="en-IN" sz="1700" dirty="0">
                <a:effectLst/>
                <a:latin typeface="Times New Roman" panose="02020603050405020304" pitchFamily="18" charset="0"/>
                <a:ea typeface="Times New Roman" panose="02020603050405020304" pitchFamily="18" charset="0"/>
              </a:rPr>
              <a:t>Ultimately, this exercise demonstrated how decision modelling can aid in portfolio optimisation – providing a structured way to balance return and risk, test scenarios (via sensitivity analysis), and arrive at a data-driven investment decision. The ILP’s outcome, in particular, suggests a more </a:t>
            </a:r>
            <a:r>
              <a:rPr lang="en-IN" sz="1700" b="1" dirty="0">
                <a:effectLst/>
                <a:latin typeface="Times New Roman" panose="02020603050405020304" pitchFamily="18" charset="0"/>
                <a:ea typeface="Times New Roman" panose="02020603050405020304" pitchFamily="18" charset="0"/>
              </a:rPr>
              <a:t>concentrated yet diversified</a:t>
            </a:r>
            <a:r>
              <a:rPr lang="en-IN" sz="1700" dirty="0">
                <a:effectLst/>
                <a:latin typeface="Times New Roman" panose="02020603050405020304" pitchFamily="18" charset="0"/>
                <a:ea typeface="Times New Roman" panose="02020603050405020304" pitchFamily="18" charset="0"/>
              </a:rPr>
              <a:t> strategy can be optimal, aligning with the principle that one should diversify across asset classes and risk factors, but not necessarily invest in every available asset. The results support a targeted investment approach guided by both quantitative analysis and prudent constraints.</a:t>
            </a:r>
          </a:p>
        </p:txBody>
      </p:sp>
    </p:spTree>
    <p:extLst>
      <p:ext uri="{BB962C8B-B14F-4D97-AF65-F5344CB8AC3E}">
        <p14:creationId xmlns:p14="http://schemas.microsoft.com/office/powerpoint/2010/main" val="3545563573"/>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A02643-C334-108C-F762-D11A66F70CA3}"/>
              </a:ext>
            </a:extLst>
          </p:cNvPr>
          <p:cNvSpPr>
            <a:spLocks noGrp="1"/>
          </p:cNvSpPr>
          <p:nvPr>
            <p:ph type="title"/>
          </p:nvPr>
        </p:nvSpPr>
        <p:spPr>
          <a:xfrm>
            <a:off x="4162567" y="2596243"/>
            <a:ext cx="5767227" cy="1401430"/>
          </a:xfrm>
        </p:spPr>
        <p:txBody>
          <a:bodyPr vert="horz" lIns="91440" tIns="45720" rIns="91440" bIns="45720" rtlCol="0" anchor="b">
            <a:normAutofit/>
          </a:bodyPr>
          <a:lstStyle/>
          <a:p>
            <a:r>
              <a:rPr lang="en-US" sz="6600" kern="1200" dirty="0">
                <a:solidFill>
                  <a:srgbClr val="FFFFFF"/>
                </a:solidFill>
                <a:latin typeface="Times New Roman" panose="02020603050405020304" pitchFamily="18" charset="0"/>
                <a:cs typeface="Times New Roman" panose="02020603050405020304" pitchFamily="18" charset="0"/>
              </a:rPr>
              <a:t>Thank you</a:t>
            </a: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8145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1474</TotalTime>
  <Words>4432</Words>
  <Application>Microsoft Macintosh PowerPoint</Application>
  <PresentationFormat>Widescreen</PresentationFormat>
  <Paragraphs>185</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-webkit-standard</vt:lpstr>
      <vt:lpstr>Aptos</vt:lpstr>
      <vt:lpstr>Aptos Display</vt:lpstr>
      <vt:lpstr>Arial</vt:lpstr>
      <vt:lpstr>Courier New</vt:lpstr>
      <vt:lpstr>Symbol</vt:lpstr>
      <vt:lpstr>Times New Roman</vt:lpstr>
      <vt:lpstr>Office Theme</vt:lpstr>
      <vt:lpstr>Investment Portfolio Optimisation (LP and ILP)   </vt:lpstr>
      <vt:lpstr>Introduction </vt:lpstr>
      <vt:lpstr>Asset Selection by Sector </vt:lpstr>
      <vt:lpstr>Risk Classification (R1, R2, R3) : </vt:lpstr>
      <vt:lpstr>Linear Programming Model – Optimal Solution </vt:lpstr>
      <vt:lpstr>LP Model – Solver Setup </vt:lpstr>
      <vt:lpstr>Conceptual Diagrams for Linear Programming </vt:lpstr>
      <vt:lpstr>Linear Programming Algebraic Formulation </vt:lpstr>
      <vt:lpstr>LP Model – Sensitivity Analysis </vt:lpstr>
      <vt:lpstr>LP Model – Sensitivity Analysis </vt:lpstr>
      <vt:lpstr>LP Model – Sensitivity Analysis </vt:lpstr>
      <vt:lpstr>LP Model – Sensitivity Analysis </vt:lpstr>
      <vt:lpstr>LP Model – Sensitivity Analysis </vt:lpstr>
      <vt:lpstr>LP Model – Sensitivity Analysis </vt:lpstr>
      <vt:lpstr>ILP Optimisation Model  </vt:lpstr>
      <vt:lpstr>ILP Optimisation Model  </vt:lpstr>
      <vt:lpstr>ILP Optimisation Model  </vt:lpstr>
      <vt:lpstr>ILP Model Solver </vt:lpstr>
      <vt:lpstr>ILP Algebraic Model  </vt:lpstr>
      <vt:lpstr>PowerPoint Presentation</vt:lpstr>
      <vt:lpstr>Preferred Strategy &amp; Rationale</vt:lpstr>
      <vt:lpstr>Conclusion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GOKUL BASKAR</dc:creator>
  <cp:lastModifiedBy>gokul baskar</cp:lastModifiedBy>
  <cp:revision>11</cp:revision>
  <dcterms:created xsi:type="dcterms:W3CDTF">2025-04-09T02:40:14Z</dcterms:created>
  <dcterms:modified xsi:type="dcterms:W3CDTF">2026-03-23T02:42:26Z</dcterms:modified>
</cp:coreProperties>
</file>